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6858000" cy="9144000"/>
  <p:embeddedFontLst>
    <p:embeddedFont>
      <p:font typeface="Lexend Medium"/>
      <p:regular r:id="rId23"/>
      <p:bold r:id="rId24"/>
    </p:embeddedFont>
    <p:embeddedFont>
      <p:font typeface="Lexend Black"/>
      <p:bold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LexendMedium-bold.fntdata"/><Relationship Id="rId23" Type="http://schemas.openxmlformats.org/officeDocument/2006/relationships/font" Target="fonts/LexendMedium-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font" Target="fonts/LexendBlack-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8f19a69ffc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8f19a69ffc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8eeeadf4f0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8eeeadf4f0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8eeeadf4f0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8eeeadf4f0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however customers have complained about the comfortability of the chairs, some stating that they often break, in addition to the insects that crawl around.</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8efa3042f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8efa3042f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8f19a69ffc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8f19a69ffc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8efa3042f3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8efa3042f3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8efa3042f3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8efa3042f3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8f19a69ffc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8f19a69ffc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8eeeadf4f0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8eeeadf4f0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One human aspect that stood out from the reviews was the appreciation for the fun and caring customer service provided by the staff of these museums. This points out that wonderful customer service in this domain of tourism does improve overall sentiment and will lead to more recommendations and traction.</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8efa3042f3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8efa3042f3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8f19a69ffc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8f19a69ffc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50">
                <a:solidFill>
                  <a:schemeClr val="dk1"/>
                </a:solidFill>
                <a:highlight>
                  <a:srgbClr val="FFFFFF"/>
                </a:highlight>
              </a:rPr>
              <a:t>The presence of a local guide influence the length of the overall review text, with the average review text tourist attractions with guides being 34 and those without being 28. This is also backed by a two sample t test and by the distribution of stars based on local guide presence. 88% of the 5 star reviews went to attractions with guides. Even though there aren't any museums or national parks that don't provide local guides in general, some tourist attractions like Outstation Gallery, Pudakul Aboriginal Cultural Tours and Kakadu National Park would see increased positive 5 stars counts and 3,4 stars as well.</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8f19a69ffc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8f19a69ffc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8eeeadf4f0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8eeeadf4f0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However, tourists complain about the insects and recommend others to carry insect repellent if they were to visit these parks. Hence we recommend these national parks provide this utility to tourists (if they don’t do so already) as it will inevitably lead to better enjoyment of the tour. This is evident in the reviews of the “Gorge” attraction point of Nitmiluk National Park, as tourists state that they love the Gorge, but absolutely hate the bugs that crawl onto them.</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8efa3042f3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8efa3042f3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8f194f255a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8f194f255a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8f19a69ffc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8f19a69ffc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9FC5E8"/>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12.png"/><Relationship Id="rId5" Type="http://schemas.openxmlformats.org/officeDocument/2006/relationships/image" Target="../media/image15.png"/><Relationship Id="rId6" Type="http://schemas.openxmlformats.org/officeDocument/2006/relationships/image" Target="../media/image11.png"/><Relationship Id="rId7"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1.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0.jpg"/><Relationship Id="rId4"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7.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5.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0.png"/><Relationship Id="rId4"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9.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688" y="3215600"/>
            <a:ext cx="8520600" cy="27237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t/>
            </a:r>
            <a:endParaRPr sz="1400"/>
          </a:p>
          <a:p>
            <a:pPr indent="0" lvl="0" marL="0" rtl="0" algn="ctr">
              <a:spcBef>
                <a:spcPts val="0"/>
              </a:spcBef>
              <a:spcAft>
                <a:spcPts val="0"/>
              </a:spcAft>
              <a:buNone/>
            </a:pPr>
            <a:r>
              <a:t/>
            </a:r>
            <a:endParaRPr sz="1400"/>
          </a:p>
          <a:p>
            <a:pPr indent="0" lvl="0" marL="0" rtl="0" algn="ctr">
              <a:spcBef>
                <a:spcPts val="0"/>
              </a:spcBef>
              <a:spcAft>
                <a:spcPts val="0"/>
              </a:spcAft>
              <a:buNone/>
            </a:pPr>
            <a:r>
              <a:t/>
            </a:r>
            <a:endParaRPr sz="1400"/>
          </a:p>
          <a:p>
            <a:pPr indent="0" lvl="0" marL="0" rtl="0" algn="ctr">
              <a:spcBef>
                <a:spcPts val="0"/>
              </a:spcBef>
              <a:spcAft>
                <a:spcPts val="0"/>
              </a:spcAft>
              <a:buNone/>
            </a:pPr>
            <a:r>
              <a:t/>
            </a:r>
            <a:endParaRPr sz="1066"/>
          </a:p>
          <a:p>
            <a:pPr indent="0" lvl="0" marL="0" rtl="0" algn="ctr">
              <a:spcBef>
                <a:spcPts val="0"/>
              </a:spcBef>
              <a:spcAft>
                <a:spcPts val="0"/>
              </a:spcAft>
              <a:buNone/>
            </a:pPr>
            <a:r>
              <a:rPr lang="en" sz="2066">
                <a:latin typeface="Lexend Medium"/>
                <a:ea typeface="Lexend Medium"/>
                <a:cs typeface="Lexend Medium"/>
                <a:sym typeface="Lexend Medium"/>
              </a:rPr>
              <a:t>Simbarashe Mutyambizi:  s385833.</a:t>
            </a:r>
            <a:endParaRPr sz="2066">
              <a:latin typeface="Lexend Medium"/>
              <a:ea typeface="Lexend Medium"/>
              <a:cs typeface="Lexend Medium"/>
              <a:sym typeface="Lexend Medium"/>
            </a:endParaRPr>
          </a:p>
          <a:p>
            <a:pPr indent="0" lvl="0" marL="0" rtl="0" algn="ctr">
              <a:spcBef>
                <a:spcPts val="0"/>
              </a:spcBef>
              <a:spcAft>
                <a:spcPts val="0"/>
              </a:spcAft>
              <a:buNone/>
            </a:pPr>
            <a:r>
              <a:rPr lang="en" sz="2066">
                <a:latin typeface="Lexend Medium"/>
                <a:ea typeface="Lexend Medium"/>
                <a:cs typeface="Lexend Medium"/>
                <a:sym typeface="Lexend Medium"/>
              </a:rPr>
              <a:t>Syed Haroon Ahmad: s393516</a:t>
            </a:r>
            <a:endParaRPr sz="2066">
              <a:latin typeface="Lexend Medium"/>
              <a:ea typeface="Lexend Medium"/>
              <a:cs typeface="Lexend Medium"/>
              <a:sym typeface="Lexend Medium"/>
            </a:endParaRPr>
          </a:p>
          <a:p>
            <a:pPr indent="0" lvl="0" marL="0" rtl="0" algn="ctr">
              <a:spcBef>
                <a:spcPts val="0"/>
              </a:spcBef>
              <a:spcAft>
                <a:spcPts val="0"/>
              </a:spcAft>
              <a:buNone/>
            </a:pPr>
            <a:r>
              <a:rPr lang="en" sz="2066">
                <a:solidFill>
                  <a:srgbClr val="000000"/>
                </a:solidFill>
                <a:latin typeface="Lexend Medium"/>
                <a:ea typeface="Lexend Medium"/>
                <a:cs typeface="Lexend Medium"/>
                <a:sym typeface="Lexend Medium"/>
              </a:rPr>
              <a:t>Mehraab Ferdouse: s393148</a:t>
            </a:r>
            <a:endParaRPr sz="2066">
              <a:solidFill>
                <a:srgbClr val="000000"/>
              </a:solidFill>
              <a:latin typeface="Lexend Medium"/>
              <a:ea typeface="Lexend Medium"/>
              <a:cs typeface="Lexend Medium"/>
              <a:sym typeface="Lexend Medium"/>
            </a:endParaRPr>
          </a:p>
          <a:p>
            <a:pPr indent="0" lvl="0" marL="0" rtl="0" algn="ctr">
              <a:spcBef>
                <a:spcPts val="0"/>
              </a:spcBef>
              <a:spcAft>
                <a:spcPts val="0"/>
              </a:spcAft>
              <a:buNone/>
            </a:pPr>
            <a:r>
              <a:rPr lang="en" sz="2066">
                <a:latin typeface="Lexend Medium"/>
                <a:ea typeface="Lexend Medium"/>
                <a:cs typeface="Lexend Medium"/>
                <a:sym typeface="Lexend Medium"/>
              </a:rPr>
              <a:t>Saugat Poudel: s395696</a:t>
            </a:r>
            <a:endParaRPr sz="2066">
              <a:solidFill>
                <a:srgbClr val="000000"/>
              </a:solidFill>
              <a:latin typeface="Lexend Medium"/>
              <a:ea typeface="Lexend Medium"/>
              <a:cs typeface="Lexend Medium"/>
              <a:sym typeface="Lexend Medium"/>
            </a:endParaRPr>
          </a:p>
          <a:p>
            <a:pPr indent="0" lvl="0" marL="0" rtl="0" algn="ctr">
              <a:spcBef>
                <a:spcPts val="0"/>
              </a:spcBef>
              <a:spcAft>
                <a:spcPts val="0"/>
              </a:spcAft>
              <a:buClr>
                <a:schemeClr val="dk1"/>
              </a:buClr>
              <a:buSzPct val="91666"/>
              <a:buFont typeface="Arial"/>
              <a:buNone/>
            </a:pPr>
            <a:r>
              <a:t/>
            </a:r>
            <a:endParaRPr sz="1200"/>
          </a:p>
          <a:p>
            <a:pPr indent="0" lvl="0" marL="0" rtl="0" algn="ctr">
              <a:spcBef>
                <a:spcPts val="0"/>
              </a:spcBef>
              <a:spcAft>
                <a:spcPts val="0"/>
              </a:spcAft>
              <a:buNone/>
            </a:pPr>
            <a:r>
              <a:t/>
            </a:r>
            <a:endParaRPr/>
          </a:p>
        </p:txBody>
      </p:sp>
      <p:sp>
        <p:nvSpPr>
          <p:cNvPr id="55" name="Google Shape;55;p13"/>
          <p:cNvSpPr txBox="1"/>
          <p:nvPr>
            <p:ph idx="1" type="subTitle"/>
          </p:nvPr>
        </p:nvSpPr>
        <p:spPr>
          <a:xfrm>
            <a:off x="311700" y="354339"/>
            <a:ext cx="8520600" cy="792600"/>
          </a:xfrm>
          <a:prstGeom prst="rect">
            <a:avLst/>
          </a:prstGeom>
        </p:spPr>
        <p:txBody>
          <a:bodyPr anchorCtr="0" anchor="t" bIns="91425" lIns="91425" spcFirstLastPara="1" rIns="91425" wrap="square" tIns="91425">
            <a:noAutofit/>
          </a:bodyPr>
          <a:lstStyle/>
          <a:p>
            <a:pPr indent="0" lvl="0" marL="0" rtl="0" algn="ctr">
              <a:lnSpc>
                <a:spcPct val="80000"/>
              </a:lnSpc>
              <a:spcBef>
                <a:spcPts val="0"/>
              </a:spcBef>
              <a:spcAft>
                <a:spcPts val="0"/>
              </a:spcAft>
              <a:buSzPts val="605"/>
              <a:buNone/>
            </a:pPr>
            <a:r>
              <a:rPr lang="en" sz="2040">
                <a:solidFill>
                  <a:srgbClr val="E06666"/>
                </a:solidFill>
                <a:latin typeface="Lexend Black"/>
                <a:ea typeface="Lexend Black"/>
                <a:cs typeface="Lexend Black"/>
                <a:sym typeface="Lexend Black"/>
              </a:rPr>
              <a:t>IT CODEFAIR 2025 DATA SCIENCE CHALLENGE</a:t>
            </a:r>
            <a:endParaRPr sz="2040">
              <a:solidFill>
                <a:srgbClr val="E06666"/>
              </a:solidFill>
              <a:latin typeface="Lexend Black"/>
              <a:ea typeface="Lexend Black"/>
              <a:cs typeface="Lexend Black"/>
              <a:sym typeface="Lexend Black"/>
            </a:endParaRPr>
          </a:p>
          <a:p>
            <a:pPr indent="0" lvl="0" marL="0" rtl="0" algn="ctr">
              <a:lnSpc>
                <a:spcPct val="80000"/>
              </a:lnSpc>
              <a:spcBef>
                <a:spcPts val="0"/>
              </a:spcBef>
              <a:spcAft>
                <a:spcPts val="0"/>
              </a:spcAft>
              <a:buSzPts val="605"/>
              <a:buNone/>
            </a:pPr>
            <a:r>
              <a:t/>
            </a:r>
            <a:endParaRPr sz="2040">
              <a:solidFill>
                <a:srgbClr val="E06666"/>
              </a:solidFill>
              <a:latin typeface="Lexend Black"/>
              <a:ea typeface="Lexend Black"/>
              <a:cs typeface="Lexend Black"/>
              <a:sym typeface="Lexend Black"/>
            </a:endParaRPr>
          </a:p>
          <a:p>
            <a:pPr indent="0" lvl="0" marL="0" rtl="0" algn="ctr">
              <a:lnSpc>
                <a:spcPct val="80000"/>
              </a:lnSpc>
              <a:spcBef>
                <a:spcPts val="0"/>
              </a:spcBef>
              <a:spcAft>
                <a:spcPts val="0"/>
              </a:spcAft>
              <a:buSzPts val="605"/>
              <a:buNone/>
            </a:pPr>
            <a:r>
              <a:rPr lang="en" sz="2040">
                <a:solidFill>
                  <a:srgbClr val="E06666"/>
                </a:solidFill>
                <a:latin typeface="Lexend Black"/>
                <a:ea typeface="Lexend Black"/>
                <a:cs typeface="Lexend Black"/>
                <a:sym typeface="Lexend Black"/>
              </a:rPr>
              <a:t>Group DSC005</a:t>
            </a:r>
            <a:endParaRPr sz="2040">
              <a:solidFill>
                <a:srgbClr val="E06666"/>
              </a:solidFill>
              <a:latin typeface="Lexend Black"/>
              <a:ea typeface="Lexend Black"/>
              <a:cs typeface="Lexend Black"/>
              <a:sym typeface="Lexend Black"/>
            </a:endParaRPr>
          </a:p>
        </p:txBody>
      </p:sp>
      <p:pic>
        <p:nvPicPr>
          <p:cNvPr id="56" name="Google Shape;56;p13" title="favpng_d795e3f2069c4e5da9a7ed39ed8babb1.png"/>
          <p:cNvPicPr preferRelativeResize="0"/>
          <p:nvPr/>
        </p:nvPicPr>
        <p:blipFill>
          <a:blip r:embed="rId3">
            <a:alphaModFix/>
          </a:blip>
          <a:stretch>
            <a:fillRect/>
          </a:stretch>
        </p:blipFill>
        <p:spPr>
          <a:xfrm>
            <a:off x="2613686" y="1667349"/>
            <a:ext cx="3916624" cy="2286725"/>
          </a:xfrm>
          <a:prstGeom prst="rect">
            <a:avLst/>
          </a:prstGeom>
          <a:noFill/>
          <a:ln>
            <a:noFill/>
          </a:ln>
        </p:spPr>
      </p:pic>
      <p:pic>
        <p:nvPicPr>
          <p:cNvPr id="57" name="Google Shape;57;p13"/>
          <p:cNvPicPr preferRelativeResize="0"/>
          <p:nvPr/>
        </p:nvPicPr>
        <p:blipFill rotWithShape="1">
          <a:blip r:embed="rId4">
            <a:alphaModFix/>
          </a:blip>
          <a:srcRect b="0" l="0" r="17891" t="0"/>
          <a:stretch/>
        </p:blipFill>
        <p:spPr>
          <a:xfrm>
            <a:off x="607250" y="1024000"/>
            <a:ext cx="1796400" cy="1230600"/>
          </a:xfrm>
          <a:prstGeom prst="roundRect">
            <a:avLst>
              <a:gd fmla="val 16667" name="adj"/>
            </a:avLst>
          </a:prstGeom>
          <a:noFill/>
          <a:ln>
            <a:noFill/>
          </a:ln>
          <a:effectLst>
            <a:outerShdw blurRad="57150" rotWithShape="0" algn="bl" dir="5400000" dist="19050">
              <a:srgbClr val="000000">
                <a:alpha val="50000"/>
              </a:srgbClr>
            </a:outerShdw>
          </a:effectLst>
        </p:spPr>
      </p:pic>
      <p:pic>
        <p:nvPicPr>
          <p:cNvPr id="58" name="Google Shape;58;p13"/>
          <p:cNvPicPr preferRelativeResize="0"/>
          <p:nvPr/>
        </p:nvPicPr>
        <p:blipFill>
          <a:blip r:embed="rId5">
            <a:alphaModFix/>
          </a:blip>
          <a:stretch>
            <a:fillRect/>
          </a:stretch>
        </p:blipFill>
        <p:spPr>
          <a:xfrm>
            <a:off x="607250" y="2517900"/>
            <a:ext cx="1796400" cy="1198200"/>
          </a:xfrm>
          <a:prstGeom prst="roundRect">
            <a:avLst>
              <a:gd fmla="val 16667" name="adj"/>
            </a:avLst>
          </a:prstGeom>
          <a:noFill/>
          <a:ln>
            <a:noFill/>
          </a:ln>
          <a:effectLst>
            <a:outerShdw blurRad="57150" rotWithShape="0" algn="bl" dir="5400000" dist="19050">
              <a:srgbClr val="000000">
                <a:alpha val="50000"/>
              </a:srgbClr>
            </a:outerShdw>
          </a:effectLst>
        </p:spPr>
      </p:pic>
      <p:pic>
        <p:nvPicPr>
          <p:cNvPr id="59" name="Google Shape;59;p13"/>
          <p:cNvPicPr preferRelativeResize="0"/>
          <p:nvPr/>
        </p:nvPicPr>
        <p:blipFill rotWithShape="1">
          <a:blip r:embed="rId6">
            <a:alphaModFix/>
          </a:blip>
          <a:srcRect b="0" l="23937" r="0" t="0"/>
          <a:stretch/>
        </p:blipFill>
        <p:spPr>
          <a:xfrm>
            <a:off x="6740325" y="1024000"/>
            <a:ext cx="1684500" cy="1230600"/>
          </a:xfrm>
          <a:prstGeom prst="roundRect">
            <a:avLst>
              <a:gd fmla="val 16667" name="adj"/>
            </a:avLst>
          </a:prstGeom>
          <a:noFill/>
          <a:ln>
            <a:noFill/>
          </a:ln>
          <a:effectLst>
            <a:outerShdw blurRad="57150" rotWithShape="0" algn="bl" dir="5400000" dist="19050">
              <a:srgbClr val="000000">
                <a:alpha val="50000"/>
              </a:srgbClr>
            </a:outerShdw>
          </a:effectLst>
        </p:spPr>
      </p:pic>
      <p:pic>
        <p:nvPicPr>
          <p:cNvPr id="60" name="Google Shape;60;p13"/>
          <p:cNvPicPr preferRelativeResize="0"/>
          <p:nvPr/>
        </p:nvPicPr>
        <p:blipFill rotWithShape="1">
          <a:blip r:embed="rId7">
            <a:alphaModFix/>
          </a:blip>
          <a:srcRect b="0" l="12010" r="0" t="0"/>
          <a:stretch/>
        </p:blipFill>
        <p:spPr>
          <a:xfrm>
            <a:off x="6740325" y="2439900"/>
            <a:ext cx="1684500" cy="1276200"/>
          </a:xfrm>
          <a:prstGeom prst="roundRect">
            <a:avLst>
              <a:gd fmla="val 16667" name="adj"/>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ctrTitle"/>
          </p:nvPr>
        </p:nvSpPr>
        <p:spPr>
          <a:xfrm>
            <a:off x="311688" y="480550"/>
            <a:ext cx="8520600" cy="27237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t/>
            </a:r>
            <a:endParaRPr sz="1400"/>
          </a:p>
          <a:p>
            <a:pPr indent="0" lvl="0" marL="0" rtl="0" algn="ctr">
              <a:spcBef>
                <a:spcPts val="0"/>
              </a:spcBef>
              <a:spcAft>
                <a:spcPts val="0"/>
              </a:spcAft>
              <a:buNone/>
            </a:pPr>
            <a:r>
              <a:t/>
            </a:r>
            <a:endParaRPr sz="1400"/>
          </a:p>
          <a:p>
            <a:pPr indent="0" lvl="0" marL="0" rtl="0" algn="ctr">
              <a:spcBef>
                <a:spcPts val="0"/>
              </a:spcBef>
              <a:spcAft>
                <a:spcPts val="0"/>
              </a:spcAft>
              <a:buNone/>
            </a:pPr>
            <a:r>
              <a:t/>
            </a:r>
            <a:endParaRPr sz="1400">
              <a:solidFill>
                <a:srgbClr val="294C7A"/>
              </a:solidFill>
            </a:endParaRPr>
          </a:p>
          <a:p>
            <a:pPr indent="0" lvl="0" marL="0" rtl="0" algn="ctr">
              <a:spcBef>
                <a:spcPts val="0"/>
              </a:spcBef>
              <a:spcAft>
                <a:spcPts val="0"/>
              </a:spcAft>
              <a:buClr>
                <a:schemeClr val="lt1"/>
              </a:buClr>
              <a:buSzPct val="51162"/>
              <a:buFont typeface="Arial"/>
              <a:buNone/>
            </a:pPr>
            <a:r>
              <a:rPr b="1" lang="en" sz="2150">
                <a:solidFill>
                  <a:srgbClr val="294C7A"/>
                </a:solidFill>
              </a:rPr>
              <a:t>"CDU acknowledges the traditional custodians of the lands on which we live, learn, work, and play. We pay our respects to the Larrakia people, the traditional custodians of this land”</a:t>
            </a:r>
            <a:endParaRPr sz="2066">
              <a:solidFill>
                <a:srgbClr val="294C7A"/>
              </a:solidFill>
              <a:latin typeface="Lexend Medium"/>
              <a:ea typeface="Lexend Medium"/>
              <a:cs typeface="Lexend Medium"/>
              <a:sym typeface="Lexend Medium"/>
            </a:endParaRPr>
          </a:p>
          <a:p>
            <a:pPr indent="0" lvl="0" marL="0" rtl="0" algn="ctr">
              <a:spcBef>
                <a:spcPts val="0"/>
              </a:spcBef>
              <a:spcAft>
                <a:spcPts val="0"/>
              </a:spcAft>
              <a:buClr>
                <a:schemeClr val="dk1"/>
              </a:buClr>
              <a:buSzPct val="91666"/>
              <a:buFont typeface="Arial"/>
              <a:buNone/>
            </a:pPr>
            <a:r>
              <a:t/>
            </a:r>
            <a:endParaRPr sz="1200"/>
          </a:p>
          <a:p>
            <a:pPr indent="0" lvl="0" marL="0" rtl="0" algn="ctr">
              <a:spcBef>
                <a:spcPts val="0"/>
              </a:spcBef>
              <a:spcAft>
                <a:spcPts val="0"/>
              </a:spcAft>
              <a:buNone/>
            </a:pPr>
            <a:r>
              <a:t/>
            </a:r>
            <a:endParaRPr/>
          </a:p>
        </p:txBody>
      </p:sp>
      <p:sp>
        <p:nvSpPr>
          <p:cNvPr id="66" name="Google Shape;66;p14"/>
          <p:cNvSpPr txBox="1"/>
          <p:nvPr>
            <p:ph idx="1" type="subTitle"/>
          </p:nvPr>
        </p:nvSpPr>
        <p:spPr>
          <a:xfrm>
            <a:off x="311700" y="354339"/>
            <a:ext cx="8520600" cy="792600"/>
          </a:xfrm>
          <a:prstGeom prst="rect">
            <a:avLst/>
          </a:prstGeom>
        </p:spPr>
        <p:txBody>
          <a:bodyPr anchorCtr="0" anchor="t" bIns="91425" lIns="91425" spcFirstLastPara="1" rIns="91425" wrap="square" tIns="91425">
            <a:noAutofit/>
          </a:bodyPr>
          <a:lstStyle/>
          <a:p>
            <a:pPr indent="0" lvl="0" marL="0" rtl="0" algn="ctr">
              <a:lnSpc>
                <a:spcPct val="80000"/>
              </a:lnSpc>
              <a:spcBef>
                <a:spcPts val="0"/>
              </a:spcBef>
              <a:spcAft>
                <a:spcPts val="0"/>
              </a:spcAft>
              <a:buSzPts val="605"/>
              <a:buNone/>
            </a:pPr>
            <a:r>
              <a:rPr lang="en" sz="2040">
                <a:solidFill>
                  <a:srgbClr val="E06666"/>
                </a:solidFill>
                <a:latin typeface="Lexend Black"/>
                <a:ea typeface="Lexend Black"/>
                <a:cs typeface="Lexend Black"/>
                <a:sym typeface="Lexend Black"/>
              </a:rPr>
              <a:t>Acknowledgement</a:t>
            </a:r>
            <a:endParaRPr sz="2040">
              <a:solidFill>
                <a:srgbClr val="E06666"/>
              </a:solidFill>
              <a:latin typeface="Lexend Black"/>
              <a:ea typeface="Lexend Black"/>
              <a:cs typeface="Lexend Black"/>
              <a:sym typeface="Lexend Black"/>
            </a:endParaRPr>
          </a:p>
        </p:txBody>
      </p:sp>
      <p:pic>
        <p:nvPicPr>
          <p:cNvPr id="67" name="Google Shape;67;p14"/>
          <p:cNvPicPr preferRelativeResize="0"/>
          <p:nvPr/>
        </p:nvPicPr>
        <p:blipFill rotWithShape="1">
          <a:blip r:embed="rId3">
            <a:alphaModFix/>
          </a:blip>
          <a:srcRect b="0" l="0" r="0" t="38419"/>
          <a:stretch/>
        </p:blipFill>
        <p:spPr>
          <a:xfrm>
            <a:off x="1915800" y="2496374"/>
            <a:ext cx="5312400" cy="2453400"/>
          </a:xfrm>
          <a:prstGeom prst="roundRect">
            <a:avLst>
              <a:gd fmla="val 16667" name="adj"/>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E06666"/>
                </a:solidFill>
                <a:latin typeface="Lexend Black"/>
                <a:ea typeface="Lexend Black"/>
                <a:cs typeface="Lexend Black"/>
                <a:sym typeface="Lexend Black"/>
              </a:rPr>
              <a:t>Approach</a:t>
            </a:r>
            <a:endParaRPr>
              <a:solidFill>
                <a:srgbClr val="E06666"/>
              </a:solidFill>
              <a:latin typeface="Lexend Black"/>
              <a:ea typeface="Lexend Black"/>
              <a:cs typeface="Lexend Black"/>
              <a:sym typeface="Lexend Black"/>
            </a:endParaRPr>
          </a:p>
        </p:txBody>
      </p:sp>
      <p:sp>
        <p:nvSpPr>
          <p:cNvPr id="73" name="Google Shape;73;p15"/>
          <p:cNvSpPr txBox="1"/>
          <p:nvPr>
            <p:ph idx="1" type="body"/>
          </p:nvPr>
        </p:nvSpPr>
        <p:spPr>
          <a:xfrm>
            <a:off x="311700" y="1152475"/>
            <a:ext cx="4584900" cy="38736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Clr>
                <a:srgbClr val="F3F3F3"/>
              </a:buClr>
              <a:buSzPts val="1800"/>
              <a:buFont typeface="Lexend Medium"/>
              <a:buChar char="●"/>
            </a:pPr>
            <a:r>
              <a:rPr lang="en">
                <a:solidFill>
                  <a:srgbClr val="294C7A"/>
                </a:solidFill>
                <a:latin typeface="Lexend Medium"/>
                <a:ea typeface="Lexend Medium"/>
                <a:cs typeface="Lexend Medium"/>
                <a:sym typeface="Lexend Medium"/>
              </a:rPr>
              <a:t>Darwin is a melting pot of different cultures</a:t>
            </a:r>
            <a:r>
              <a:rPr lang="en">
                <a:solidFill>
                  <a:schemeClr val="dk1"/>
                </a:solidFill>
                <a:latin typeface="Lexend Medium"/>
                <a:ea typeface="Lexend Medium"/>
                <a:cs typeface="Lexend Medium"/>
                <a:sym typeface="Lexend Medium"/>
              </a:rPr>
              <a:t> </a:t>
            </a:r>
            <a:r>
              <a:rPr lang="en">
                <a:solidFill>
                  <a:srgbClr val="EFEFEF"/>
                </a:solidFill>
                <a:latin typeface="Lexend Medium"/>
                <a:ea typeface="Lexend Medium"/>
                <a:cs typeface="Lexend Medium"/>
                <a:sym typeface="Lexend Medium"/>
              </a:rPr>
              <a:t>and tourist attraction points, and we want to incorporate this crucial element of Darwin into our analysis.</a:t>
            </a:r>
            <a:br>
              <a:rPr lang="en">
                <a:solidFill>
                  <a:srgbClr val="EFEFEF"/>
                </a:solidFill>
                <a:latin typeface="Lexend Medium"/>
                <a:ea typeface="Lexend Medium"/>
                <a:cs typeface="Lexend Medium"/>
                <a:sym typeface="Lexend Medium"/>
              </a:rPr>
            </a:br>
            <a:endParaRPr>
              <a:solidFill>
                <a:srgbClr val="EFEFEF"/>
              </a:solidFill>
              <a:latin typeface="Lexend Medium"/>
              <a:ea typeface="Lexend Medium"/>
              <a:cs typeface="Lexend Medium"/>
              <a:sym typeface="Lexend Medium"/>
            </a:endParaRPr>
          </a:p>
          <a:p>
            <a:pPr indent="-342900" lvl="0" marL="457200" rtl="0" algn="l">
              <a:spcBef>
                <a:spcPts val="0"/>
              </a:spcBef>
              <a:spcAft>
                <a:spcPts val="0"/>
              </a:spcAft>
              <a:buClr>
                <a:srgbClr val="F3F3F3"/>
              </a:buClr>
              <a:buSzPts val="1800"/>
              <a:buFont typeface="Lexend Medium"/>
              <a:buChar char="●"/>
            </a:pPr>
            <a:r>
              <a:rPr lang="en">
                <a:solidFill>
                  <a:srgbClr val="F3F3F3"/>
                </a:solidFill>
                <a:latin typeface="Lexend Medium"/>
                <a:ea typeface="Lexend Medium"/>
                <a:cs typeface="Lexend Medium"/>
                <a:sym typeface="Lexend Medium"/>
              </a:rPr>
              <a:t>Hence we have broken down this investigation into</a:t>
            </a:r>
            <a:r>
              <a:rPr lang="en">
                <a:solidFill>
                  <a:schemeClr val="dk1"/>
                </a:solidFill>
                <a:latin typeface="Lexend Medium"/>
                <a:ea typeface="Lexend Medium"/>
                <a:cs typeface="Lexend Medium"/>
                <a:sym typeface="Lexend Medium"/>
              </a:rPr>
              <a:t> </a:t>
            </a:r>
            <a:r>
              <a:rPr lang="en">
                <a:solidFill>
                  <a:srgbClr val="294C7A"/>
                </a:solidFill>
                <a:latin typeface="Lexend Medium"/>
                <a:ea typeface="Lexend Medium"/>
                <a:cs typeface="Lexend Medium"/>
                <a:sym typeface="Lexend Medium"/>
              </a:rPr>
              <a:t>four target categories:</a:t>
            </a:r>
            <a:endParaRPr>
              <a:solidFill>
                <a:srgbClr val="294C7A"/>
              </a:solidFill>
              <a:latin typeface="Lexend Medium"/>
              <a:ea typeface="Lexend Medium"/>
              <a:cs typeface="Lexend Medium"/>
              <a:sym typeface="Lexend Medium"/>
            </a:endParaRPr>
          </a:p>
          <a:p>
            <a:pPr indent="-317500" lvl="1" marL="914400" rtl="0" algn="l">
              <a:spcBef>
                <a:spcPts val="0"/>
              </a:spcBef>
              <a:spcAft>
                <a:spcPts val="0"/>
              </a:spcAft>
              <a:buClr>
                <a:srgbClr val="294C7A"/>
              </a:buClr>
              <a:buSzPts val="1400"/>
              <a:buFont typeface="Lexend Medium"/>
              <a:buChar char="○"/>
            </a:pPr>
            <a:r>
              <a:rPr lang="en">
                <a:solidFill>
                  <a:srgbClr val="294C7A"/>
                </a:solidFill>
                <a:latin typeface="Lexend Medium"/>
                <a:ea typeface="Lexend Medium"/>
                <a:cs typeface="Lexend Medium"/>
                <a:sym typeface="Lexend Medium"/>
              </a:rPr>
              <a:t>Museums</a:t>
            </a:r>
            <a:endParaRPr>
              <a:solidFill>
                <a:srgbClr val="294C7A"/>
              </a:solidFill>
              <a:latin typeface="Lexend Medium"/>
              <a:ea typeface="Lexend Medium"/>
              <a:cs typeface="Lexend Medium"/>
              <a:sym typeface="Lexend Medium"/>
            </a:endParaRPr>
          </a:p>
          <a:p>
            <a:pPr indent="-317500" lvl="1" marL="914400" rtl="0" algn="l">
              <a:spcBef>
                <a:spcPts val="0"/>
              </a:spcBef>
              <a:spcAft>
                <a:spcPts val="0"/>
              </a:spcAft>
              <a:buClr>
                <a:srgbClr val="294C7A"/>
              </a:buClr>
              <a:buSzPts val="1400"/>
              <a:buFont typeface="Lexend Medium"/>
              <a:buChar char="○"/>
            </a:pPr>
            <a:r>
              <a:rPr lang="en">
                <a:solidFill>
                  <a:srgbClr val="294C7A"/>
                </a:solidFill>
                <a:latin typeface="Lexend Medium"/>
                <a:ea typeface="Lexend Medium"/>
                <a:cs typeface="Lexend Medium"/>
                <a:sym typeface="Lexend Medium"/>
              </a:rPr>
              <a:t>National parks</a:t>
            </a:r>
            <a:endParaRPr>
              <a:solidFill>
                <a:srgbClr val="294C7A"/>
              </a:solidFill>
              <a:latin typeface="Lexend Medium"/>
              <a:ea typeface="Lexend Medium"/>
              <a:cs typeface="Lexend Medium"/>
              <a:sym typeface="Lexend Medium"/>
            </a:endParaRPr>
          </a:p>
          <a:p>
            <a:pPr indent="-317500" lvl="1" marL="914400" rtl="0" algn="l">
              <a:spcBef>
                <a:spcPts val="0"/>
              </a:spcBef>
              <a:spcAft>
                <a:spcPts val="0"/>
              </a:spcAft>
              <a:buClr>
                <a:srgbClr val="294C7A"/>
              </a:buClr>
              <a:buSzPts val="1400"/>
              <a:buFont typeface="Lexend Medium"/>
              <a:buChar char="○"/>
            </a:pPr>
            <a:r>
              <a:rPr lang="en">
                <a:solidFill>
                  <a:srgbClr val="294C7A"/>
                </a:solidFill>
                <a:latin typeface="Lexend Medium"/>
                <a:ea typeface="Lexend Medium"/>
                <a:cs typeface="Lexend Medium"/>
                <a:sym typeface="Lexend Medium"/>
              </a:rPr>
              <a:t>Markets and cultural attractions</a:t>
            </a:r>
            <a:endParaRPr>
              <a:solidFill>
                <a:srgbClr val="294C7A"/>
              </a:solidFill>
              <a:latin typeface="Lexend Medium"/>
              <a:ea typeface="Lexend Medium"/>
              <a:cs typeface="Lexend Medium"/>
              <a:sym typeface="Lexend Medium"/>
            </a:endParaRPr>
          </a:p>
          <a:p>
            <a:pPr indent="-317500" lvl="1" marL="914400" rtl="0" algn="l">
              <a:spcBef>
                <a:spcPts val="0"/>
              </a:spcBef>
              <a:spcAft>
                <a:spcPts val="0"/>
              </a:spcAft>
              <a:buClr>
                <a:srgbClr val="294C7A"/>
              </a:buClr>
              <a:buSzPts val="1400"/>
              <a:buFont typeface="Lexend Medium"/>
              <a:buChar char="○"/>
            </a:pPr>
            <a:r>
              <a:rPr lang="en">
                <a:solidFill>
                  <a:srgbClr val="294C7A"/>
                </a:solidFill>
                <a:latin typeface="Lexend Medium"/>
                <a:ea typeface="Lexend Medium"/>
                <a:cs typeface="Lexend Medium"/>
                <a:sym typeface="Lexend Medium"/>
              </a:rPr>
              <a:t>Cruises</a:t>
            </a:r>
            <a:endParaRPr>
              <a:solidFill>
                <a:srgbClr val="294C7A"/>
              </a:solidFill>
              <a:latin typeface="Lexend Medium"/>
              <a:ea typeface="Lexend Medium"/>
              <a:cs typeface="Lexend Medium"/>
              <a:sym typeface="Lexend Medium"/>
            </a:endParaRPr>
          </a:p>
          <a:p>
            <a:pPr indent="0" lvl="0" marL="457200" rtl="0" algn="l">
              <a:spcBef>
                <a:spcPts val="1200"/>
              </a:spcBef>
              <a:spcAft>
                <a:spcPts val="1200"/>
              </a:spcAft>
              <a:buNone/>
            </a:pPr>
            <a:r>
              <a:t/>
            </a:r>
            <a:endParaRPr/>
          </a:p>
        </p:txBody>
      </p:sp>
      <p:grpSp>
        <p:nvGrpSpPr>
          <p:cNvPr id="74" name="Google Shape;74;p15"/>
          <p:cNvGrpSpPr/>
          <p:nvPr/>
        </p:nvGrpSpPr>
        <p:grpSpPr>
          <a:xfrm>
            <a:off x="5029187" y="-1563869"/>
            <a:ext cx="5110275" cy="6846550"/>
            <a:chOff x="5029187" y="-1563869"/>
            <a:chExt cx="5110275" cy="6846550"/>
          </a:xfrm>
        </p:grpSpPr>
        <p:sp>
          <p:nvSpPr>
            <p:cNvPr id="75" name="Google Shape;75;p15"/>
            <p:cNvSpPr/>
            <p:nvPr/>
          </p:nvSpPr>
          <p:spPr>
            <a:xfrm>
              <a:off x="5171712" y="-1563869"/>
              <a:ext cx="3353400" cy="3353400"/>
            </a:xfrm>
            <a:prstGeom prst="ellipse">
              <a:avLst/>
            </a:prstGeom>
            <a:solidFill>
              <a:srgbClr val="B4A7D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 name="Google Shape;76;p15"/>
            <p:cNvSpPr/>
            <p:nvPr/>
          </p:nvSpPr>
          <p:spPr>
            <a:xfrm>
              <a:off x="6666062" y="-282594"/>
              <a:ext cx="3353400" cy="3353400"/>
            </a:xfrm>
            <a:prstGeom prst="ellipse">
              <a:avLst/>
            </a:prstGeom>
            <a:solidFill>
              <a:srgbClr val="A4C2F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7" name="Google Shape;77;p15"/>
            <p:cNvSpPr/>
            <p:nvPr/>
          </p:nvSpPr>
          <p:spPr>
            <a:xfrm>
              <a:off x="5029187" y="1319306"/>
              <a:ext cx="3353400" cy="3353400"/>
            </a:xfrm>
            <a:prstGeom prst="ellipse">
              <a:avLst/>
            </a:prstGeom>
            <a:solidFill>
              <a:srgbClr val="EA9999"/>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8" name="Google Shape;78;p15"/>
            <p:cNvSpPr/>
            <p:nvPr/>
          </p:nvSpPr>
          <p:spPr>
            <a:xfrm>
              <a:off x="6786062" y="1929281"/>
              <a:ext cx="3353400" cy="3353400"/>
            </a:xfrm>
            <a:prstGeom prst="ellipse">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6"/>
          <p:cNvSpPr txBox="1"/>
          <p:nvPr>
            <p:ph idx="1" type="body"/>
          </p:nvPr>
        </p:nvSpPr>
        <p:spPr>
          <a:xfrm>
            <a:off x="311700" y="1152475"/>
            <a:ext cx="4341900" cy="3895800"/>
          </a:xfrm>
          <a:prstGeom prst="rect">
            <a:avLst/>
          </a:prstGeom>
        </p:spPr>
        <p:txBody>
          <a:bodyPr anchorCtr="0" anchor="t" bIns="91425" lIns="91425" spcFirstLastPara="1" rIns="91425" wrap="square" tIns="91425">
            <a:normAutofit fontScale="77500" lnSpcReduction="20000"/>
          </a:bodyPr>
          <a:lstStyle/>
          <a:p>
            <a:pPr indent="-317182" lvl="0" marL="457200" rtl="0" algn="l">
              <a:spcBef>
                <a:spcPts val="0"/>
              </a:spcBef>
              <a:spcAft>
                <a:spcPts val="0"/>
              </a:spcAft>
              <a:buClr>
                <a:srgbClr val="F3F3F3"/>
              </a:buClr>
              <a:buSzPct val="100000"/>
              <a:buFont typeface="Lexend Medium"/>
              <a:buChar char="●"/>
            </a:pPr>
            <a:r>
              <a:rPr lang="en">
                <a:solidFill>
                  <a:srgbClr val="F3F3F3"/>
                </a:solidFill>
                <a:latin typeface="Lexend Medium"/>
                <a:ea typeface="Lexend Medium"/>
                <a:cs typeface="Lexend Medium"/>
                <a:sym typeface="Lexend Medium"/>
              </a:rPr>
              <a:t>Data in relation to the markets consisted of the following:</a:t>
            </a:r>
            <a:endParaRPr>
              <a:solidFill>
                <a:srgbClr val="F3F3F3"/>
              </a:solidFill>
              <a:latin typeface="Lexend Medium"/>
              <a:ea typeface="Lexend Medium"/>
              <a:cs typeface="Lexend Medium"/>
              <a:sym typeface="Lexend Medium"/>
            </a:endParaRPr>
          </a:p>
          <a:p>
            <a:pPr indent="-297497" lvl="1" marL="914400" rtl="0" algn="l">
              <a:spcBef>
                <a:spcPts val="0"/>
              </a:spcBef>
              <a:spcAft>
                <a:spcPts val="0"/>
              </a:spcAft>
              <a:buClr>
                <a:srgbClr val="F3F3F3"/>
              </a:buClr>
              <a:buSzPct val="100000"/>
              <a:buFont typeface="Lexend Medium"/>
              <a:buChar char="○"/>
            </a:pPr>
            <a:r>
              <a:rPr lang="en">
                <a:solidFill>
                  <a:srgbClr val="F3F3F3"/>
                </a:solidFill>
                <a:latin typeface="Lexend Medium"/>
                <a:ea typeface="Lexend Medium"/>
                <a:cs typeface="Lexend Medium"/>
                <a:sym typeface="Lexend Medium"/>
              </a:rPr>
              <a:t>Parap Market.</a:t>
            </a:r>
            <a:endParaRPr>
              <a:solidFill>
                <a:srgbClr val="F3F3F3"/>
              </a:solidFill>
              <a:latin typeface="Lexend Medium"/>
              <a:ea typeface="Lexend Medium"/>
              <a:cs typeface="Lexend Medium"/>
              <a:sym typeface="Lexend Medium"/>
            </a:endParaRPr>
          </a:p>
          <a:p>
            <a:pPr indent="-297497" lvl="1" marL="914400" rtl="0" algn="l">
              <a:spcBef>
                <a:spcPts val="0"/>
              </a:spcBef>
              <a:spcAft>
                <a:spcPts val="0"/>
              </a:spcAft>
              <a:buClr>
                <a:srgbClr val="F3F3F3"/>
              </a:buClr>
              <a:buSzPct val="100000"/>
              <a:buFont typeface="Lexend Medium"/>
              <a:buChar char="○"/>
            </a:pPr>
            <a:r>
              <a:rPr lang="en">
                <a:solidFill>
                  <a:srgbClr val="F3F3F3"/>
                </a:solidFill>
                <a:latin typeface="Lexend Medium"/>
                <a:ea typeface="Lexend Medium"/>
                <a:cs typeface="Lexend Medium"/>
                <a:sym typeface="Lexend Medium"/>
              </a:rPr>
              <a:t>Tiwi Islands.</a:t>
            </a:r>
            <a:endParaRPr>
              <a:solidFill>
                <a:srgbClr val="F3F3F3"/>
              </a:solidFill>
              <a:latin typeface="Lexend Medium"/>
              <a:ea typeface="Lexend Medium"/>
              <a:cs typeface="Lexend Medium"/>
              <a:sym typeface="Lexend Medium"/>
            </a:endParaRPr>
          </a:p>
          <a:p>
            <a:pPr indent="-297497" lvl="1" marL="914400" rtl="0" algn="l">
              <a:spcBef>
                <a:spcPts val="0"/>
              </a:spcBef>
              <a:spcAft>
                <a:spcPts val="0"/>
              </a:spcAft>
              <a:buClr>
                <a:srgbClr val="F3F3F3"/>
              </a:buClr>
              <a:buSzPct val="100000"/>
              <a:buFont typeface="Lexend Medium"/>
              <a:buChar char="○"/>
            </a:pPr>
            <a:r>
              <a:rPr lang="en">
                <a:solidFill>
                  <a:srgbClr val="F3F3F3"/>
                </a:solidFill>
                <a:latin typeface="Lexend Medium"/>
                <a:ea typeface="Lexend Medium"/>
                <a:cs typeface="Lexend Medium"/>
                <a:sym typeface="Lexend Medium"/>
              </a:rPr>
              <a:t>Nightcliff Markets.</a:t>
            </a:r>
            <a:endParaRPr>
              <a:solidFill>
                <a:srgbClr val="F3F3F3"/>
              </a:solidFill>
              <a:latin typeface="Lexend Medium"/>
              <a:ea typeface="Lexend Medium"/>
              <a:cs typeface="Lexend Medium"/>
              <a:sym typeface="Lexend Medium"/>
            </a:endParaRPr>
          </a:p>
          <a:p>
            <a:pPr indent="-297497" lvl="1" marL="914400" rtl="0" algn="l">
              <a:spcBef>
                <a:spcPts val="0"/>
              </a:spcBef>
              <a:spcAft>
                <a:spcPts val="0"/>
              </a:spcAft>
              <a:buClr>
                <a:srgbClr val="F3F3F3"/>
              </a:buClr>
              <a:buSzPct val="100000"/>
              <a:buFont typeface="Lexend Medium"/>
              <a:buChar char="○"/>
            </a:pPr>
            <a:r>
              <a:rPr lang="en">
                <a:solidFill>
                  <a:srgbClr val="F3F3F3"/>
                </a:solidFill>
                <a:latin typeface="Lexend Medium"/>
                <a:ea typeface="Lexend Medium"/>
                <a:cs typeface="Lexend Medium"/>
                <a:sym typeface="Lexend Medium"/>
              </a:rPr>
              <a:t>Pudakul Aboriginal cultural tours.</a:t>
            </a:r>
            <a:br>
              <a:rPr lang="en">
                <a:solidFill>
                  <a:srgbClr val="F3F3F3"/>
                </a:solidFill>
                <a:latin typeface="Lexend Medium"/>
                <a:ea typeface="Lexend Medium"/>
                <a:cs typeface="Lexend Medium"/>
                <a:sym typeface="Lexend Medium"/>
              </a:rPr>
            </a:br>
            <a:endParaRPr>
              <a:solidFill>
                <a:srgbClr val="F3F3F3"/>
              </a:solidFill>
              <a:latin typeface="Lexend Medium"/>
              <a:ea typeface="Lexend Medium"/>
              <a:cs typeface="Lexend Medium"/>
              <a:sym typeface="Lexend Medium"/>
            </a:endParaRPr>
          </a:p>
          <a:p>
            <a:pPr indent="-317182" lvl="0" marL="457200" rtl="0" algn="l">
              <a:spcBef>
                <a:spcPts val="0"/>
              </a:spcBef>
              <a:spcAft>
                <a:spcPts val="0"/>
              </a:spcAft>
              <a:buClr>
                <a:srgbClr val="F3F3F3"/>
              </a:buClr>
              <a:buSzPct val="100000"/>
              <a:buFont typeface="Lexend Medium"/>
              <a:buChar char="●"/>
            </a:pPr>
            <a:r>
              <a:rPr lang="en">
                <a:solidFill>
                  <a:srgbClr val="294C7A"/>
                </a:solidFill>
                <a:latin typeface="Lexend Medium"/>
                <a:ea typeface="Lexend Medium"/>
                <a:cs typeface="Lexend Medium"/>
                <a:sym typeface="Lexend Medium"/>
              </a:rPr>
              <a:t>Tourists enjoyed the food and craft stalls </a:t>
            </a:r>
            <a:r>
              <a:rPr lang="en">
                <a:solidFill>
                  <a:srgbClr val="F3F3F3"/>
                </a:solidFill>
                <a:latin typeface="Lexend Medium"/>
                <a:ea typeface="Lexend Medium"/>
                <a:cs typeface="Lexend Medium"/>
                <a:sym typeface="Lexend Medium"/>
              </a:rPr>
              <a:t>around the markets, especially highlighting on how close they are to each other,</a:t>
            </a:r>
            <a:r>
              <a:rPr lang="en">
                <a:solidFill>
                  <a:schemeClr val="dk1"/>
                </a:solidFill>
                <a:latin typeface="Lexend Medium"/>
                <a:ea typeface="Lexend Medium"/>
                <a:cs typeface="Lexend Medium"/>
                <a:sym typeface="Lexend Medium"/>
              </a:rPr>
              <a:t> </a:t>
            </a:r>
            <a:r>
              <a:rPr lang="en">
                <a:solidFill>
                  <a:srgbClr val="294C7A"/>
                </a:solidFill>
                <a:latin typeface="Lexend Medium"/>
                <a:ea typeface="Lexend Medium"/>
                <a:cs typeface="Lexend Medium"/>
                <a:sym typeface="Lexend Medium"/>
              </a:rPr>
              <a:t>allowing them to window shop as they wait for their food.</a:t>
            </a:r>
            <a:r>
              <a:rPr lang="en">
                <a:solidFill>
                  <a:schemeClr val="dk1"/>
                </a:solidFill>
                <a:latin typeface="Lexend Medium"/>
                <a:ea typeface="Lexend Medium"/>
                <a:cs typeface="Lexend Medium"/>
                <a:sym typeface="Lexend Medium"/>
              </a:rPr>
              <a:t> </a:t>
            </a:r>
            <a:r>
              <a:rPr lang="en">
                <a:solidFill>
                  <a:srgbClr val="294C7A"/>
                </a:solidFill>
                <a:latin typeface="Lexend Medium"/>
                <a:ea typeface="Lexend Medium"/>
                <a:cs typeface="Lexend Medium"/>
                <a:sym typeface="Lexend Medium"/>
              </a:rPr>
              <a:t>One of the most recommended stalls was “Mary Laksa”, </a:t>
            </a:r>
            <a:r>
              <a:rPr lang="en">
                <a:solidFill>
                  <a:srgbClr val="F3F3F3"/>
                </a:solidFill>
                <a:latin typeface="Lexend Medium"/>
                <a:ea typeface="Lexend Medium"/>
                <a:cs typeface="Lexend Medium"/>
                <a:sym typeface="Lexend Medium"/>
              </a:rPr>
              <a:t>located at Parap market, as it was praised for its delicious Laksa dish.</a:t>
            </a:r>
            <a:br>
              <a:rPr lang="en">
                <a:solidFill>
                  <a:srgbClr val="F3F3F3"/>
                </a:solidFill>
                <a:latin typeface="Lexend Medium"/>
                <a:ea typeface="Lexend Medium"/>
                <a:cs typeface="Lexend Medium"/>
                <a:sym typeface="Lexend Medium"/>
              </a:rPr>
            </a:br>
            <a:endParaRPr>
              <a:solidFill>
                <a:srgbClr val="F3F3F3"/>
              </a:solidFill>
              <a:latin typeface="Lexend Medium"/>
              <a:ea typeface="Lexend Medium"/>
              <a:cs typeface="Lexend Medium"/>
              <a:sym typeface="Lexend Medium"/>
            </a:endParaRPr>
          </a:p>
          <a:p>
            <a:pPr indent="-317182" lvl="0" marL="457200" rtl="0" algn="l">
              <a:spcBef>
                <a:spcPts val="0"/>
              </a:spcBef>
              <a:spcAft>
                <a:spcPts val="0"/>
              </a:spcAft>
              <a:buClr>
                <a:srgbClr val="F3F3F3"/>
              </a:buClr>
              <a:buSzPct val="100000"/>
              <a:buFont typeface="Lexend Medium"/>
              <a:buChar char="●"/>
            </a:pPr>
            <a:r>
              <a:rPr lang="en">
                <a:solidFill>
                  <a:srgbClr val="F3F3F3"/>
                </a:solidFill>
                <a:latin typeface="Lexend Medium"/>
                <a:ea typeface="Lexend Medium"/>
                <a:cs typeface="Lexend Medium"/>
                <a:sym typeface="Lexend Medium"/>
              </a:rPr>
              <a:t>In addition to that we analyzed the</a:t>
            </a:r>
            <a:r>
              <a:rPr lang="en">
                <a:solidFill>
                  <a:schemeClr val="dk1"/>
                </a:solidFill>
                <a:latin typeface="Lexend Medium"/>
                <a:ea typeface="Lexend Medium"/>
                <a:cs typeface="Lexend Medium"/>
                <a:sym typeface="Lexend Medium"/>
              </a:rPr>
              <a:t> </a:t>
            </a:r>
            <a:r>
              <a:rPr lang="en">
                <a:solidFill>
                  <a:srgbClr val="294C7A"/>
                </a:solidFill>
                <a:latin typeface="Lexend Medium"/>
                <a:ea typeface="Lexend Medium"/>
                <a:cs typeface="Lexend Medium"/>
                <a:sym typeface="Lexend Medium"/>
              </a:rPr>
              <a:t>Deckchair cinema,</a:t>
            </a:r>
            <a:r>
              <a:rPr lang="en">
                <a:solidFill>
                  <a:srgbClr val="F3F3F3"/>
                </a:solidFill>
                <a:latin typeface="Lexend Medium"/>
                <a:ea typeface="Lexend Medium"/>
                <a:cs typeface="Lexend Medium"/>
                <a:sym typeface="Lexend Medium"/>
              </a:rPr>
              <a:t> which</a:t>
            </a:r>
            <a:r>
              <a:rPr lang="en">
                <a:solidFill>
                  <a:schemeClr val="dk1"/>
                </a:solidFill>
                <a:latin typeface="Lexend Medium"/>
                <a:ea typeface="Lexend Medium"/>
                <a:cs typeface="Lexend Medium"/>
                <a:sym typeface="Lexend Medium"/>
              </a:rPr>
              <a:t> </a:t>
            </a:r>
            <a:r>
              <a:rPr lang="en">
                <a:solidFill>
                  <a:srgbClr val="294C7A"/>
                </a:solidFill>
                <a:latin typeface="Lexend Medium"/>
                <a:ea typeface="Lexend Medium"/>
                <a:cs typeface="Lexend Medium"/>
                <a:sym typeface="Lexend Medium"/>
              </a:rPr>
              <a:t>consisted of positive reviews.</a:t>
            </a:r>
            <a:endParaRPr>
              <a:solidFill>
                <a:srgbClr val="294C7A"/>
              </a:solidFill>
              <a:latin typeface="Lexend Medium"/>
              <a:ea typeface="Lexend Medium"/>
              <a:cs typeface="Lexend Medium"/>
              <a:sym typeface="Lexend Medium"/>
            </a:endParaRPr>
          </a:p>
        </p:txBody>
      </p:sp>
      <p:grpSp>
        <p:nvGrpSpPr>
          <p:cNvPr id="84" name="Google Shape;84;p16"/>
          <p:cNvGrpSpPr/>
          <p:nvPr/>
        </p:nvGrpSpPr>
        <p:grpSpPr>
          <a:xfrm rot="-7336905">
            <a:off x="6976578" y="3243121"/>
            <a:ext cx="2987228" cy="4002173"/>
            <a:chOff x="5029187" y="-1563869"/>
            <a:chExt cx="5110275" cy="6846550"/>
          </a:xfrm>
        </p:grpSpPr>
        <p:sp>
          <p:nvSpPr>
            <p:cNvPr id="85" name="Google Shape;85;p16"/>
            <p:cNvSpPr/>
            <p:nvPr/>
          </p:nvSpPr>
          <p:spPr>
            <a:xfrm>
              <a:off x="5171712" y="-1563869"/>
              <a:ext cx="3353400" cy="3353400"/>
            </a:xfrm>
            <a:prstGeom prst="ellipse">
              <a:avLst/>
            </a:prstGeom>
            <a:solidFill>
              <a:srgbClr val="B4A7D6"/>
            </a:solidFill>
            <a:ln>
              <a:noFill/>
            </a:ln>
          </p:spPr>
          <p:txBody>
            <a:bodyPr anchorCtr="0" anchor="ctr" bIns="53450" lIns="53450" spcFirstLastPara="1" rIns="53450" wrap="square" tIns="53450">
              <a:noAutofit/>
            </a:bodyPr>
            <a:lstStyle/>
            <a:p>
              <a:pPr indent="0" lvl="0" marL="0" rtl="0" algn="ctr">
                <a:spcBef>
                  <a:spcPts val="0"/>
                </a:spcBef>
                <a:spcAft>
                  <a:spcPts val="0"/>
                </a:spcAft>
                <a:buNone/>
              </a:pPr>
              <a:r>
                <a:t/>
              </a:r>
              <a:endParaRPr sz="818"/>
            </a:p>
          </p:txBody>
        </p:sp>
        <p:sp>
          <p:nvSpPr>
            <p:cNvPr id="86" name="Google Shape;86;p16"/>
            <p:cNvSpPr/>
            <p:nvPr/>
          </p:nvSpPr>
          <p:spPr>
            <a:xfrm>
              <a:off x="6666062" y="-282594"/>
              <a:ext cx="3353400" cy="3353400"/>
            </a:xfrm>
            <a:prstGeom prst="ellipse">
              <a:avLst/>
            </a:prstGeom>
            <a:solidFill>
              <a:srgbClr val="A4C2F4"/>
            </a:solidFill>
            <a:ln>
              <a:noFill/>
            </a:ln>
          </p:spPr>
          <p:txBody>
            <a:bodyPr anchorCtr="0" anchor="ctr" bIns="53450" lIns="53450" spcFirstLastPara="1" rIns="53450" wrap="square" tIns="53450">
              <a:noAutofit/>
            </a:bodyPr>
            <a:lstStyle/>
            <a:p>
              <a:pPr indent="0" lvl="0" marL="0" rtl="0" algn="ctr">
                <a:spcBef>
                  <a:spcPts val="0"/>
                </a:spcBef>
                <a:spcAft>
                  <a:spcPts val="0"/>
                </a:spcAft>
                <a:buNone/>
              </a:pPr>
              <a:r>
                <a:t/>
              </a:r>
              <a:endParaRPr sz="818"/>
            </a:p>
          </p:txBody>
        </p:sp>
        <p:sp>
          <p:nvSpPr>
            <p:cNvPr id="87" name="Google Shape;87;p16"/>
            <p:cNvSpPr/>
            <p:nvPr/>
          </p:nvSpPr>
          <p:spPr>
            <a:xfrm>
              <a:off x="5029187" y="1319306"/>
              <a:ext cx="3353400" cy="3353400"/>
            </a:xfrm>
            <a:prstGeom prst="ellipse">
              <a:avLst/>
            </a:prstGeom>
            <a:solidFill>
              <a:srgbClr val="EA9999"/>
            </a:solidFill>
            <a:ln>
              <a:noFill/>
            </a:ln>
          </p:spPr>
          <p:txBody>
            <a:bodyPr anchorCtr="0" anchor="ctr" bIns="53450" lIns="53450" spcFirstLastPara="1" rIns="53450" wrap="square" tIns="53450">
              <a:noAutofit/>
            </a:bodyPr>
            <a:lstStyle/>
            <a:p>
              <a:pPr indent="0" lvl="0" marL="0" rtl="0" algn="ctr">
                <a:spcBef>
                  <a:spcPts val="0"/>
                </a:spcBef>
                <a:spcAft>
                  <a:spcPts val="0"/>
                </a:spcAft>
                <a:buNone/>
              </a:pPr>
              <a:r>
                <a:t/>
              </a:r>
              <a:endParaRPr sz="818"/>
            </a:p>
          </p:txBody>
        </p:sp>
        <p:sp>
          <p:nvSpPr>
            <p:cNvPr id="88" name="Google Shape;88;p16"/>
            <p:cNvSpPr/>
            <p:nvPr/>
          </p:nvSpPr>
          <p:spPr>
            <a:xfrm>
              <a:off x="6786062" y="1929281"/>
              <a:ext cx="3353400" cy="3353400"/>
            </a:xfrm>
            <a:prstGeom prst="ellipse">
              <a:avLst/>
            </a:prstGeom>
            <a:solidFill>
              <a:srgbClr val="D9EAD3"/>
            </a:solidFill>
            <a:ln>
              <a:noFill/>
            </a:ln>
          </p:spPr>
          <p:txBody>
            <a:bodyPr anchorCtr="0" anchor="ctr" bIns="53450" lIns="53450" spcFirstLastPara="1" rIns="53450" wrap="square" tIns="53450">
              <a:noAutofit/>
            </a:bodyPr>
            <a:lstStyle/>
            <a:p>
              <a:pPr indent="0" lvl="0" marL="0" rtl="0" algn="ctr">
                <a:spcBef>
                  <a:spcPts val="0"/>
                </a:spcBef>
                <a:spcAft>
                  <a:spcPts val="0"/>
                </a:spcAft>
                <a:buNone/>
              </a:pPr>
              <a:r>
                <a:t/>
              </a:r>
              <a:endParaRPr sz="818"/>
            </a:p>
          </p:txBody>
        </p:sp>
      </p:grpSp>
      <p:sp>
        <p:nvSpPr>
          <p:cNvPr id="89" name="Google Shape;89;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E06666"/>
                </a:solidFill>
                <a:latin typeface="Lexend Black"/>
                <a:ea typeface="Lexend Black"/>
                <a:cs typeface="Lexend Black"/>
                <a:sym typeface="Lexend Black"/>
              </a:rPr>
              <a:t>Cultural Tourism (markets &amp; cinema)</a:t>
            </a:r>
            <a:endParaRPr>
              <a:solidFill>
                <a:srgbClr val="E06666"/>
              </a:solidFill>
              <a:latin typeface="Lexend Black"/>
              <a:ea typeface="Lexend Black"/>
              <a:cs typeface="Lexend Black"/>
              <a:sym typeface="Lexend Black"/>
            </a:endParaRPr>
          </a:p>
        </p:txBody>
      </p:sp>
      <p:grpSp>
        <p:nvGrpSpPr>
          <p:cNvPr id="90" name="Google Shape;90;p16"/>
          <p:cNvGrpSpPr/>
          <p:nvPr/>
        </p:nvGrpSpPr>
        <p:grpSpPr>
          <a:xfrm rot="-1898569">
            <a:off x="7063625" y="-994302"/>
            <a:ext cx="2987524" cy="4002569"/>
            <a:chOff x="5029187" y="-1563869"/>
            <a:chExt cx="5110275" cy="6846550"/>
          </a:xfrm>
        </p:grpSpPr>
        <p:sp>
          <p:nvSpPr>
            <p:cNvPr id="91" name="Google Shape;91;p16"/>
            <p:cNvSpPr/>
            <p:nvPr/>
          </p:nvSpPr>
          <p:spPr>
            <a:xfrm>
              <a:off x="5171712" y="-1563869"/>
              <a:ext cx="3353400" cy="3353400"/>
            </a:xfrm>
            <a:prstGeom prst="ellipse">
              <a:avLst/>
            </a:prstGeom>
            <a:solidFill>
              <a:srgbClr val="B4A7D6"/>
            </a:solidFill>
            <a:ln>
              <a:noFill/>
            </a:ln>
          </p:spPr>
          <p:txBody>
            <a:bodyPr anchorCtr="0" anchor="ctr" bIns="53450" lIns="53450" spcFirstLastPara="1" rIns="53450" wrap="square" tIns="53450">
              <a:noAutofit/>
            </a:bodyPr>
            <a:lstStyle/>
            <a:p>
              <a:pPr indent="0" lvl="0" marL="0" rtl="0" algn="ctr">
                <a:spcBef>
                  <a:spcPts val="0"/>
                </a:spcBef>
                <a:spcAft>
                  <a:spcPts val="0"/>
                </a:spcAft>
                <a:buNone/>
              </a:pPr>
              <a:r>
                <a:t/>
              </a:r>
              <a:endParaRPr sz="818"/>
            </a:p>
          </p:txBody>
        </p:sp>
        <p:sp>
          <p:nvSpPr>
            <p:cNvPr id="92" name="Google Shape;92;p16"/>
            <p:cNvSpPr/>
            <p:nvPr/>
          </p:nvSpPr>
          <p:spPr>
            <a:xfrm>
              <a:off x="6666062" y="-282594"/>
              <a:ext cx="3353400" cy="3353400"/>
            </a:xfrm>
            <a:prstGeom prst="ellipse">
              <a:avLst/>
            </a:prstGeom>
            <a:solidFill>
              <a:srgbClr val="A4C2F4"/>
            </a:solidFill>
            <a:ln>
              <a:noFill/>
            </a:ln>
          </p:spPr>
          <p:txBody>
            <a:bodyPr anchorCtr="0" anchor="ctr" bIns="53450" lIns="53450" spcFirstLastPara="1" rIns="53450" wrap="square" tIns="53450">
              <a:noAutofit/>
            </a:bodyPr>
            <a:lstStyle/>
            <a:p>
              <a:pPr indent="0" lvl="0" marL="0" rtl="0" algn="ctr">
                <a:spcBef>
                  <a:spcPts val="0"/>
                </a:spcBef>
                <a:spcAft>
                  <a:spcPts val="0"/>
                </a:spcAft>
                <a:buNone/>
              </a:pPr>
              <a:r>
                <a:t/>
              </a:r>
              <a:endParaRPr sz="818"/>
            </a:p>
          </p:txBody>
        </p:sp>
        <p:sp>
          <p:nvSpPr>
            <p:cNvPr id="93" name="Google Shape;93;p16"/>
            <p:cNvSpPr/>
            <p:nvPr/>
          </p:nvSpPr>
          <p:spPr>
            <a:xfrm>
              <a:off x="5029187" y="1319306"/>
              <a:ext cx="3353400" cy="3353400"/>
            </a:xfrm>
            <a:prstGeom prst="ellipse">
              <a:avLst/>
            </a:prstGeom>
            <a:solidFill>
              <a:srgbClr val="EA9999"/>
            </a:solidFill>
            <a:ln>
              <a:noFill/>
            </a:ln>
          </p:spPr>
          <p:txBody>
            <a:bodyPr anchorCtr="0" anchor="ctr" bIns="53450" lIns="53450" spcFirstLastPara="1" rIns="53450" wrap="square" tIns="53450">
              <a:noAutofit/>
            </a:bodyPr>
            <a:lstStyle/>
            <a:p>
              <a:pPr indent="0" lvl="0" marL="0" rtl="0" algn="ctr">
                <a:spcBef>
                  <a:spcPts val="0"/>
                </a:spcBef>
                <a:spcAft>
                  <a:spcPts val="0"/>
                </a:spcAft>
                <a:buNone/>
              </a:pPr>
              <a:r>
                <a:t/>
              </a:r>
              <a:endParaRPr sz="818"/>
            </a:p>
          </p:txBody>
        </p:sp>
        <p:sp>
          <p:nvSpPr>
            <p:cNvPr id="94" name="Google Shape;94;p16"/>
            <p:cNvSpPr/>
            <p:nvPr/>
          </p:nvSpPr>
          <p:spPr>
            <a:xfrm>
              <a:off x="6786062" y="1929281"/>
              <a:ext cx="3353400" cy="3353400"/>
            </a:xfrm>
            <a:prstGeom prst="ellipse">
              <a:avLst/>
            </a:prstGeom>
            <a:solidFill>
              <a:srgbClr val="D9EAD3"/>
            </a:solidFill>
            <a:ln>
              <a:noFill/>
            </a:ln>
          </p:spPr>
          <p:txBody>
            <a:bodyPr anchorCtr="0" anchor="ctr" bIns="53450" lIns="53450" spcFirstLastPara="1" rIns="53450" wrap="square" tIns="53450">
              <a:noAutofit/>
            </a:bodyPr>
            <a:lstStyle/>
            <a:p>
              <a:pPr indent="0" lvl="0" marL="0" rtl="0" algn="ctr">
                <a:spcBef>
                  <a:spcPts val="0"/>
                </a:spcBef>
                <a:spcAft>
                  <a:spcPts val="0"/>
                </a:spcAft>
                <a:buNone/>
              </a:pPr>
              <a:r>
                <a:t/>
              </a:r>
              <a:endParaRPr sz="818"/>
            </a:p>
          </p:txBody>
        </p:sp>
      </p:grpSp>
      <p:pic>
        <p:nvPicPr>
          <p:cNvPr id="95" name="Google Shape;95;p16"/>
          <p:cNvPicPr preferRelativeResize="0"/>
          <p:nvPr/>
        </p:nvPicPr>
        <p:blipFill rotWithShape="1">
          <a:blip r:embed="rId3">
            <a:alphaModFix/>
          </a:blip>
          <a:srcRect b="0" l="23937" r="0" t="0"/>
          <a:stretch/>
        </p:blipFill>
        <p:spPr>
          <a:xfrm>
            <a:off x="5768275" y="1163400"/>
            <a:ext cx="2290800" cy="1673400"/>
          </a:xfrm>
          <a:prstGeom prst="roundRect">
            <a:avLst>
              <a:gd fmla="val 16667" name="adj"/>
            </a:avLst>
          </a:prstGeom>
          <a:noFill/>
          <a:ln>
            <a:noFill/>
          </a:ln>
          <a:effectLst>
            <a:outerShdw blurRad="77716" rotWithShape="0" algn="bl" dir="5400000" dist="25905">
              <a:srgbClr val="000000">
                <a:alpha val="50000"/>
              </a:srgbClr>
            </a:outerShdw>
          </a:effectLst>
        </p:spPr>
      </p:pic>
      <p:pic>
        <p:nvPicPr>
          <p:cNvPr id="96" name="Google Shape;96;p16"/>
          <p:cNvPicPr preferRelativeResize="0"/>
          <p:nvPr/>
        </p:nvPicPr>
        <p:blipFill rotWithShape="1">
          <a:blip r:embed="rId4">
            <a:alphaModFix/>
          </a:blip>
          <a:srcRect b="0" l="12010" r="0" t="0"/>
          <a:stretch/>
        </p:blipFill>
        <p:spPr>
          <a:xfrm>
            <a:off x="5768275" y="3088836"/>
            <a:ext cx="2290800" cy="1735500"/>
          </a:xfrm>
          <a:prstGeom prst="roundRect">
            <a:avLst>
              <a:gd fmla="val 16667" name="adj"/>
            </a:avLst>
          </a:prstGeom>
          <a:noFill/>
          <a:ln>
            <a:noFill/>
          </a:ln>
          <a:effectLst>
            <a:outerShdw blurRad="77716" rotWithShape="0" algn="bl" dir="5400000" dist="25905">
              <a:srgbClr val="000000">
                <a:alpha val="5000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pic>
        <p:nvPicPr>
          <p:cNvPr id="101" name="Google Shape;101;p17" title="mehraab.JPG"/>
          <p:cNvPicPr preferRelativeResize="0"/>
          <p:nvPr/>
        </p:nvPicPr>
        <p:blipFill>
          <a:blip r:embed="rId3">
            <a:alphaModFix/>
          </a:blip>
          <a:stretch>
            <a:fillRect/>
          </a:stretch>
        </p:blipFill>
        <p:spPr>
          <a:xfrm>
            <a:off x="311700" y="1240925"/>
            <a:ext cx="8520600" cy="3416400"/>
          </a:xfrm>
          <a:prstGeom prst="roundRect">
            <a:avLst>
              <a:gd fmla="val 16667" name="adj"/>
            </a:avLst>
          </a:prstGeom>
          <a:noFill/>
          <a:ln>
            <a:noFill/>
          </a:ln>
          <a:effectLst>
            <a:outerShdw blurRad="57150" rotWithShape="0" algn="bl" dir="5400000" dist="19050">
              <a:srgbClr val="000000">
                <a:alpha val="50000"/>
              </a:srgbClr>
            </a:outerShdw>
          </a:effectLst>
        </p:spPr>
      </p:pic>
      <p:sp>
        <p:nvSpPr>
          <p:cNvPr id="102" name="Google Shape;102;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solidFill>
                  <a:srgbClr val="E06666"/>
                </a:solidFill>
                <a:latin typeface="Lexend Black"/>
                <a:ea typeface="Lexend Black"/>
                <a:cs typeface="Lexend Black"/>
                <a:sym typeface="Lexend Black"/>
              </a:rPr>
              <a:t>Word cloud for Markets</a:t>
            </a:r>
            <a:endParaRPr>
              <a:solidFill>
                <a:srgbClr val="E06666"/>
              </a:solidFill>
              <a:latin typeface="Lexend Black"/>
              <a:ea typeface="Lexend Black"/>
              <a:cs typeface="Lexend Black"/>
              <a:sym typeface="Lexend Black"/>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solidFill>
                  <a:srgbClr val="E06666"/>
                </a:solidFill>
                <a:latin typeface="Lexend Black"/>
                <a:ea typeface="Lexend Black"/>
                <a:cs typeface="Lexend Black"/>
                <a:sym typeface="Lexend Black"/>
              </a:rPr>
              <a:t>Negative word cloud for markets and cinema</a:t>
            </a:r>
            <a:endParaRPr>
              <a:solidFill>
                <a:srgbClr val="E06666"/>
              </a:solidFill>
              <a:latin typeface="Lexend Black"/>
              <a:ea typeface="Lexend Black"/>
              <a:cs typeface="Lexend Black"/>
              <a:sym typeface="Lexend Black"/>
            </a:endParaRPr>
          </a:p>
        </p:txBody>
      </p:sp>
      <p:pic>
        <p:nvPicPr>
          <p:cNvPr id="108" name="Google Shape;108;p18" title="meh.JPG"/>
          <p:cNvPicPr preferRelativeResize="0"/>
          <p:nvPr/>
        </p:nvPicPr>
        <p:blipFill>
          <a:blip r:embed="rId3">
            <a:alphaModFix/>
          </a:blip>
          <a:stretch>
            <a:fillRect/>
          </a:stretch>
        </p:blipFill>
        <p:spPr>
          <a:xfrm>
            <a:off x="483050" y="1115800"/>
            <a:ext cx="8205000" cy="3714600"/>
          </a:xfrm>
          <a:prstGeom prst="roundRect">
            <a:avLst>
              <a:gd fmla="val 16667" name="adj"/>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E06666"/>
                </a:solidFill>
                <a:latin typeface="Lexend Black"/>
                <a:ea typeface="Lexend Black"/>
                <a:cs typeface="Lexend Black"/>
                <a:sym typeface="Lexend Black"/>
              </a:rPr>
              <a:t>Cruises</a:t>
            </a:r>
            <a:endParaRPr>
              <a:solidFill>
                <a:srgbClr val="E06666"/>
              </a:solidFill>
              <a:latin typeface="Lexend Black"/>
              <a:ea typeface="Lexend Black"/>
              <a:cs typeface="Lexend Black"/>
              <a:sym typeface="Lexend Black"/>
            </a:endParaRPr>
          </a:p>
        </p:txBody>
      </p:sp>
      <p:grpSp>
        <p:nvGrpSpPr>
          <p:cNvPr id="114" name="Google Shape;114;p19"/>
          <p:cNvGrpSpPr/>
          <p:nvPr/>
        </p:nvGrpSpPr>
        <p:grpSpPr>
          <a:xfrm rot="-7336905">
            <a:off x="6976578" y="3243121"/>
            <a:ext cx="2987228" cy="4002173"/>
            <a:chOff x="5029187" y="-1563869"/>
            <a:chExt cx="5110275" cy="6846550"/>
          </a:xfrm>
        </p:grpSpPr>
        <p:sp>
          <p:nvSpPr>
            <p:cNvPr id="115" name="Google Shape;115;p19"/>
            <p:cNvSpPr/>
            <p:nvPr/>
          </p:nvSpPr>
          <p:spPr>
            <a:xfrm>
              <a:off x="5171712" y="-1563869"/>
              <a:ext cx="3353400" cy="3353400"/>
            </a:xfrm>
            <a:prstGeom prst="ellipse">
              <a:avLst/>
            </a:prstGeom>
            <a:solidFill>
              <a:srgbClr val="B4A7D6"/>
            </a:solidFill>
            <a:ln>
              <a:noFill/>
            </a:ln>
          </p:spPr>
          <p:txBody>
            <a:bodyPr anchorCtr="0" anchor="ctr" bIns="53450" lIns="53450" spcFirstLastPara="1" rIns="53450" wrap="square" tIns="53450">
              <a:noAutofit/>
            </a:bodyPr>
            <a:lstStyle/>
            <a:p>
              <a:pPr indent="0" lvl="0" marL="0" rtl="0" algn="ctr">
                <a:spcBef>
                  <a:spcPts val="0"/>
                </a:spcBef>
                <a:spcAft>
                  <a:spcPts val="0"/>
                </a:spcAft>
                <a:buNone/>
              </a:pPr>
              <a:r>
                <a:t/>
              </a:r>
              <a:endParaRPr sz="818"/>
            </a:p>
          </p:txBody>
        </p:sp>
        <p:sp>
          <p:nvSpPr>
            <p:cNvPr id="116" name="Google Shape;116;p19"/>
            <p:cNvSpPr/>
            <p:nvPr/>
          </p:nvSpPr>
          <p:spPr>
            <a:xfrm>
              <a:off x="6666062" y="-282594"/>
              <a:ext cx="3353400" cy="3353400"/>
            </a:xfrm>
            <a:prstGeom prst="ellipse">
              <a:avLst/>
            </a:prstGeom>
            <a:solidFill>
              <a:srgbClr val="A4C2F4"/>
            </a:solidFill>
            <a:ln>
              <a:noFill/>
            </a:ln>
          </p:spPr>
          <p:txBody>
            <a:bodyPr anchorCtr="0" anchor="ctr" bIns="53450" lIns="53450" spcFirstLastPara="1" rIns="53450" wrap="square" tIns="53450">
              <a:noAutofit/>
            </a:bodyPr>
            <a:lstStyle/>
            <a:p>
              <a:pPr indent="0" lvl="0" marL="0" rtl="0" algn="ctr">
                <a:spcBef>
                  <a:spcPts val="0"/>
                </a:spcBef>
                <a:spcAft>
                  <a:spcPts val="0"/>
                </a:spcAft>
                <a:buNone/>
              </a:pPr>
              <a:r>
                <a:t/>
              </a:r>
              <a:endParaRPr sz="818"/>
            </a:p>
          </p:txBody>
        </p:sp>
        <p:sp>
          <p:nvSpPr>
            <p:cNvPr id="117" name="Google Shape;117;p19"/>
            <p:cNvSpPr/>
            <p:nvPr/>
          </p:nvSpPr>
          <p:spPr>
            <a:xfrm>
              <a:off x="5029187" y="1319306"/>
              <a:ext cx="3353400" cy="3353400"/>
            </a:xfrm>
            <a:prstGeom prst="ellipse">
              <a:avLst/>
            </a:prstGeom>
            <a:solidFill>
              <a:srgbClr val="EA9999"/>
            </a:solidFill>
            <a:ln>
              <a:noFill/>
            </a:ln>
          </p:spPr>
          <p:txBody>
            <a:bodyPr anchorCtr="0" anchor="ctr" bIns="53450" lIns="53450" spcFirstLastPara="1" rIns="53450" wrap="square" tIns="53450">
              <a:noAutofit/>
            </a:bodyPr>
            <a:lstStyle/>
            <a:p>
              <a:pPr indent="0" lvl="0" marL="0" rtl="0" algn="ctr">
                <a:spcBef>
                  <a:spcPts val="0"/>
                </a:spcBef>
                <a:spcAft>
                  <a:spcPts val="0"/>
                </a:spcAft>
                <a:buNone/>
              </a:pPr>
              <a:r>
                <a:t/>
              </a:r>
              <a:endParaRPr sz="818"/>
            </a:p>
          </p:txBody>
        </p:sp>
        <p:sp>
          <p:nvSpPr>
            <p:cNvPr id="118" name="Google Shape;118;p19"/>
            <p:cNvSpPr/>
            <p:nvPr/>
          </p:nvSpPr>
          <p:spPr>
            <a:xfrm>
              <a:off x="6786062" y="1929281"/>
              <a:ext cx="3353400" cy="3353400"/>
            </a:xfrm>
            <a:prstGeom prst="ellipse">
              <a:avLst/>
            </a:prstGeom>
            <a:solidFill>
              <a:srgbClr val="D9EAD3"/>
            </a:solidFill>
            <a:ln>
              <a:noFill/>
            </a:ln>
          </p:spPr>
          <p:txBody>
            <a:bodyPr anchorCtr="0" anchor="ctr" bIns="53450" lIns="53450" spcFirstLastPara="1" rIns="53450" wrap="square" tIns="53450">
              <a:noAutofit/>
            </a:bodyPr>
            <a:lstStyle/>
            <a:p>
              <a:pPr indent="0" lvl="0" marL="0" rtl="0" algn="ctr">
                <a:spcBef>
                  <a:spcPts val="0"/>
                </a:spcBef>
                <a:spcAft>
                  <a:spcPts val="0"/>
                </a:spcAft>
                <a:buNone/>
              </a:pPr>
              <a:r>
                <a:t/>
              </a:r>
              <a:endParaRPr sz="818"/>
            </a:p>
          </p:txBody>
        </p:sp>
      </p:grpSp>
      <p:grpSp>
        <p:nvGrpSpPr>
          <p:cNvPr id="119" name="Google Shape;119;p19"/>
          <p:cNvGrpSpPr/>
          <p:nvPr/>
        </p:nvGrpSpPr>
        <p:grpSpPr>
          <a:xfrm rot="-1898569">
            <a:off x="7063625" y="-994302"/>
            <a:ext cx="2987524" cy="4002569"/>
            <a:chOff x="5029187" y="-1563869"/>
            <a:chExt cx="5110275" cy="6846550"/>
          </a:xfrm>
        </p:grpSpPr>
        <p:sp>
          <p:nvSpPr>
            <p:cNvPr id="120" name="Google Shape;120;p19"/>
            <p:cNvSpPr/>
            <p:nvPr/>
          </p:nvSpPr>
          <p:spPr>
            <a:xfrm>
              <a:off x="5171712" y="-1563869"/>
              <a:ext cx="3353400" cy="3353400"/>
            </a:xfrm>
            <a:prstGeom prst="ellipse">
              <a:avLst/>
            </a:prstGeom>
            <a:solidFill>
              <a:srgbClr val="B4A7D6"/>
            </a:solidFill>
            <a:ln>
              <a:noFill/>
            </a:ln>
          </p:spPr>
          <p:txBody>
            <a:bodyPr anchorCtr="0" anchor="ctr" bIns="53450" lIns="53450" spcFirstLastPara="1" rIns="53450" wrap="square" tIns="53450">
              <a:noAutofit/>
            </a:bodyPr>
            <a:lstStyle/>
            <a:p>
              <a:pPr indent="0" lvl="0" marL="0" rtl="0" algn="ctr">
                <a:spcBef>
                  <a:spcPts val="0"/>
                </a:spcBef>
                <a:spcAft>
                  <a:spcPts val="0"/>
                </a:spcAft>
                <a:buNone/>
              </a:pPr>
              <a:r>
                <a:t/>
              </a:r>
              <a:endParaRPr sz="818"/>
            </a:p>
          </p:txBody>
        </p:sp>
        <p:sp>
          <p:nvSpPr>
            <p:cNvPr id="121" name="Google Shape;121;p19"/>
            <p:cNvSpPr/>
            <p:nvPr/>
          </p:nvSpPr>
          <p:spPr>
            <a:xfrm>
              <a:off x="6666062" y="-282594"/>
              <a:ext cx="3353400" cy="3353400"/>
            </a:xfrm>
            <a:prstGeom prst="ellipse">
              <a:avLst/>
            </a:prstGeom>
            <a:solidFill>
              <a:srgbClr val="A4C2F4"/>
            </a:solidFill>
            <a:ln>
              <a:noFill/>
            </a:ln>
          </p:spPr>
          <p:txBody>
            <a:bodyPr anchorCtr="0" anchor="ctr" bIns="53450" lIns="53450" spcFirstLastPara="1" rIns="53450" wrap="square" tIns="53450">
              <a:noAutofit/>
            </a:bodyPr>
            <a:lstStyle/>
            <a:p>
              <a:pPr indent="0" lvl="0" marL="0" rtl="0" algn="ctr">
                <a:spcBef>
                  <a:spcPts val="0"/>
                </a:spcBef>
                <a:spcAft>
                  <a:spcPts val="0"/>
                </a:spcAft>
                <a:buNone/>
              </a:pPr>
              <a:r>
                <a:t/>
              </a:r>
              <a:endParaRPr sz="818"/>
            </a:p>
          </p:txBody>
        </p:sp>
        <p:sp>
          <p:nvSpPr>
            <p:cNvPr id="122" name="Google Shape;122;p19"/>
            <p:cNvSpPr/>
            <p:nvPr/>
          </p:nvSpPr>
          <p:spPr>
            <a:xfrm>
              <a:off x="5029187" y="1319306"/>
              <a:ext cx="3353400" cy="3353400"/>
            </a:xfrm>
            <a:prstGeom prst="ellipse">
              <a:avLst/>
            </a:prstGeom>
            <a:solidFill>
              <a:srgbClr val="EA9999"/>
            </a:solidFill>
            <a:ln>
              <a:noFill/>
            </a:ln>
          </p:spPr>
          <p:txBody>
            <a:bodyPr anchorCtr="0" anchor="ctr" bIns="53450" lIns="53450" spcFirstLastPara="1" rIns="53450" wrap="square" tIns="53450">
              <a:noAutofit/>
            </a:bodyPr>
            <a:lstStyle/>
            <a:p>
              <a:pPr indent="0" lvl="0" marL="0" rtl="0" algn="ctr">
                <a:spcBef>
                  <a:spcPts val="0"/>
                </a:spcBef>
                <a:spcAft>
                  <a:spcPts val="0"/>
                </a:spcAft>
                <a:buNone/>
              </a:pPr>
              <a:r>
                <a:t/>
              </a:r>
              <a:endParaRPr sz="818"/>
            </a:p>
          </p:txBody>
        </p:sp>
        <p:sp>
          <p:nvSpPr>
            <p:cNvPr id="123" name="Google Shape;123;p19"/>
            <p:cNvSpPr/>
            <p:nvPr/>
          </p:nvSpPr>
          <p:spPr>
            <a:xfrm>
              <a:off x="6786062" y="1929281"/>
              <a:ext cx="3353400" cy="3353400"/>
            </a:xfrm>
            <a:prstGeom prst="ellipse">
              <a:avLst/>
            </a:prstGeom>
            <a:solidFill>
              <a:srgbClr val="D9EAD3"/>
            </a:solidFill>
            <a:ln>
              <a:noFill/>
            </a:ln>
          </p:spPr>
          <p:txBody>
            <a:bodyPr anchorCtr="0" anchor="ctr" bIns="53450" lIns="53450" spcFirstLastPara="1" rIns="53450" wrap="square" tIns="53450">
              <a:noAutofit/>
            </a:bodyPr>
            <a:lstStyle/>
            <a:p>
              <a:pPr indent="0" lvl="0" marL="0" rtl="0" algn="ctr">
                <a:spcBef>
                  <a:spcPts val="0"/>
                </a:spcBef>
                <a:spcAft>
                  <a:spcPts val="0"/>
                </a:spcAft>
                <a:buNone/>
              </a:pPr>
              <a:r>
                <a:t/>
              </a:r>
              <a:endParaRPr sz="818"/>
            </a:p>
          </p:txBody>
        </p:sp>
      </p:grpSp>
      <p:pic>
        <p:nvPicPr>
          <p:cNvPr id="124" name="Google Shape;124;p19" title="DHC-Hero-1.jpg"/>
          <p:cNvPicPr preferRelativeResize="0"/>
          <p:nvPr/>
        </p:nvPicPr>
        <p:blipFill>
          <a:blip r:embed="rId3">
            <a:alphaModFix/>
          </a:blip>
          <a:stretch>
            <a:fillRect/>
          </a:stretch>
        </p:blipFill>
        <p:spPr>
          <a:xfrm>
            <a:off x="5871450" y="861025"/>
            <a:ext cx="2456100" cy="1516500"/>
          </a:xfrm>
          <a:prstGeom prst="roundRect">
            <a:avLst>
              <a:gd fmla="val 16667" name="adj"/>
            </a:avLst>
          </a:prstGeom>
          <a:noFill/>
          <a:ln>
            <a:noFill/>
          </a:ln>
        </p:spPr>
      </p:pic>
      <p:pic>
        <p:nvPicPr>
          <p:cNvPr id="125" name="Google Shape;125;p19" title="images (1).jpeg"/>
          <p:cNvPicPr preferRelativeResize="0"/>
          <p:nvPr/>
        </p:nvPicPr>
        <p:blipFill rotWithShape="1">
          <a:blip r:embed="rId4">
            <a:alphaModFix/>
          </a:blip>
          <a:srcRect b="0" l="22202" r="33893" t="0"/>
          <a:stretch/>
        </p:blipFill>
        <p:spPr>
          <a:xfrm>
            <a:off x="5871450" y="2746025"/>
            <a:ext cx="2422200" cy="1565700"/>
          </a:xfrm>
          <a:prstGeom prst="roundRect">
            <a:avLst>
              <a:gd fmla="val 16667" name="adj"/>
            </a:avLst>
          </a:prstGeom>
          <a:noFill/>
          <a:ln>
            <a:noFill/>
          </a:ln>
        </p:spPr>
      </p:pic>
      <p:sp>
        <p:nvSpPr>
          <p:cNvPr id="126" name="Google Shape;126;p19"/>
          <p:cNvSpPr txBox="1"/>
          <p:nvPr>
            <p:ph idx="1" type="body"/>
          </p:nvPr>
        </p:nvSpPr>
        <p:spPr>
          <a:xfrm>
            <a:off x="311700" y="1152475"/>
            <a:ext cx="5240100" cy="3739200"/>
          </a:xfrm>
          <a:prstGeom prst="rect">
            <a:avLst/>
          </a:prstGeom>
        </p:spPr>
        <p:txBody>
          <a:bodyPr anchorCtr="0" anchor="t" bIns="91425" lIns="91425" spcFirstLastPara="1" rIns="91425" wrap="square" tIns="91425">
            <a:noAutofit/>
          </a:bodyPr>
          <a:lstStyle/>
          <a:p>
            <a:pPr indent="-317500" lvl="0" marL="457200" rtl="0" algn="l">
              <a:lnSpc>
                <a:spcPct val="95000"/>
              </a:lnSpc>
              <a:spcBef>
                <a:spcPts val="0"/>
              </a:spcBef>
              <a:spcAft>
                <a:spcPts val="0"/>
              </a:spcAft>
              <a:buClr>
                <a:srgbClr val="F3F3F3"/>
              </a:buClr>
              <a:buSzPts val="1400"/>
              <a:buFont typeface="Lexend Medium"/>
              <a:buChar char="●"/>
            </a:pPr>
            <a:r>
              <a:rPr lang="en" sz="1400">
                <a:solidFill>
                  <a:srgbClr val="294C7A"/>
                </a:solidFill>
                <a:latin typeface="Lexend Medium"/>
                <a:ea typeface="Lexend Medium"/>
                <a:cs typeface="Lexend Medium"/>
                <a:sym typeface="Lexend Medium"/>
              </a:rPr>
              <a:t>Reviews were collected from Darwin Harbour sunset and sightseeing cruises and more</a:t>
            </a:r>
            <a:r>
              <a:rPr lang="en" sz="1400">
                <a:solidFill>
                  <a:srgbClr val="F3F3F3"/>
                </a:solidFill>
                <a:latin typeface="Lexend Medium"/>
                <a:ea typeface="Lexend Medium"/>
                <a:cs typeface="Lexend Medium"/>
                <a:sym typeface="Lexend Medium"/>
              </a:rPr>
              <a:t> via Google Maps covering overall experience, service, food, and scenery.</a:t>
            </a:r>
            <a:br>
              <a:rPr lang="en" sz="1400">
                <a:solidFill>
                  <a:srgbClr val="F3F3F3"/>
                </a:solidFill>
                <a:latin typeface="Lexend Medium"/>
                <a:ea typeface="Lexend Medium"/>
                <a:cs typeface="Lexend Medium"/>
                <a:sym typeface="Lexend Medium"/>
              </a:rPr>
            </a:br>
            <a:endParaRPr sz="1400">
              <a:solidFill>
                <a:srgbClr val="F3F3F3"/>
              </a:solidFill>
              <a:latin typeface="Lexend Medium"/>
              <a:ea typeface="Lexend Medium"/>
              <a:cs typeface="Lexend Medium"/>
              <a:sym typeface="Lexend Medium"/>
            </a:endParaRPr>
          </a:p>
          <a:p>
            <a:pPr indent="-317500" lvl="0" marL="457200" rtl="0" algn="l">
              <a:lnSpc>
                <a:spcPct val="95000"/>
              </a:lnSpc>
              <a:spcBef>
                <a:spcPts val="0"/>
              </a:spcBef>
              <a:spcAft>
                <a:spcPts val="0"/>
              </a:spcAft>
              <a:buClr>
                <a:srgbClr val="294C7A"/>
              </a:buClr>
              <a:buSzPts val="1400"/>
              <a:buFont typeface="Lexend Medium"/>
              <a:buChar char="●"/>
            </a:pPr>
            <a:r>
              <a:rPr lang="en" sz="1400">
                <a:solidFill>
                  <a:srgbClr val="294C7A"/>
                </a:solidFill>
                <a:latin typeface="Lexend Medium"/>
                <a:ea typeface="Lexend Medium"/>
                <a:cs typeface="Lexend Medium"/>
                <a:sym typeface="Lexend Medium"/>
              </a:rPr>
              <a:t>Sentiment Summary:</a:t>
            </a:r>
            <a:endParaRPr sz="1400">
              <a:solidFill>
                <a:srgbClr val="294C7A"/>
              </a:solidFill>
              <a:latin typeface="Lexend Medium"/>
              <a:ea typeface="Lexend Medium"/>
              <a:cs typeface="Lexend Medium"/>
              <a:sym typeface="Lexend Medium"/>
            </a:endParaRPr>
          </a:p>
          <a:p>
            <a:pPr indent="0" lvl="0" marL="457200" rtl="0" algn="l">
              <a:lnSpc>
                <a:spcPct val="95000"/>
              </a:lnSpc>
              <a:spcBef>
                <a:spcPts val="1200"/>
              </a:spcBef>
              <a:spcAft>
                <a:spcPts val="0"/>
              </a:spcAft>
              <a:buNone/>
            </a:pPr>
            <a:r>
              <a:rPr lang="en" sz="1400">
                <a:solidFill>
                  <a:srgbClr val="294C7A"/>
                </a:solidFill>
                <a:latin typeface="Lexend Medium"/>
                <a:ea typeface="Lexend Medium"/>
                <a:cs typeface="Lexend Medium"/>
                <a:sym typeface="Lexend Medium"/>
              </a:rPr>
              <a:t> 🟢 Positive: 895 ⚪ Neutral: 46 🔴 Negative: 58</a:t>
            </a:r>
            <a:endParaRPr sz="1400">
              <a:solidFill>
                <a:srgbClr val="294C7A"/>
              </a:solidFill>
              <a:latin typeface="Lexend Medium"/>
              <a:ea typeface="Lexend Medium"/>
              <a:cs typeface="Lexend Medium"/>
              <a:sym typeface="Lexend Medium"/>
            </a:endParaRPr>
          </a:p>
          <a:p>
            <a:pPr indent="-317500" lvl="0" marL="457200" rtl="0" algn="l">
              <a:lnSpc>
                <a:spcPct val="95000"/>
              </a:lnSpc>
              <a:spcBef>
                <a:spcPts val="1200"/>
              </a:spcBef>
              <a:spcAft>
                <a:spcPts val="0"/>
              </a:spcAft>
              <a:buClr>
                <a:srgbClr val="F3F3F3"/>
              </a:buClr>
              <a:buSzPts val="1400"/>
              <a:buFont typeface="Lexend Medium"/>
              <a:buChar char="●"/>
            </a:pPr>
            <a:r>
              <a:rPr lang="en" sz="1400">
                <a:solidFill>
                  <a:srgbClr val="294C7A"/>
                </a:solidFill>
                <a:latin typeface="Lexend Medium"/>
                <a:ea typeface="Lexend Medium"/>
                <a:cs typeface="Lexend Medium"/>
                <a:sym typeface="Lexend Medium"/>
              </a:rPr>
              <a:t>Overall sentiment was strongly positive</a:t>
            </a:r>
            <a:r>
              <a:rPr lang="en" sz="1400">
                <a:solidFill>
                  <a:srgbClr val="F3F3F3"/>
                </a:solidFill>
                <a:latin typeface="Lexend Medium"/>
                <a:ea typeface="Lexend Medium"/>
                <a:cs typeface="Lexend Medium"/>
                <a:sym typeface="Lexend Medium"/>
              </a:rPr>
              <a:t>, with travellers praising the friendly crew, spectacular sunset views, and relaxing onboard atmosphere.</a:t>
            </a:r>
            <a:br>
              <a:rPr lang="en" sz="1400">
                <a:solidFill>
                  <a:srgbClr val="F3F3F3"/>
                </a:solidFill>
                <a:latin typeface="Lexend Medium"/>
                <a:ea typeface="Lexend Medium"/>
                <a:cs typeface="Lexend Medium"/>
                <a:sym typeface="Lexend Medium"/>
              </a:rPr>
            </a:br>
            <a:endParaRPr sz="1400">
              <a:solidFill>
                <a:srgbClr val="F3F3F3"/>
              </a:solidFill>
              <a:latin typeface="Lexend Medium"/>
              <a:ea typeface="Lexend Medium"/>
              <a:cs typeface="Lexend Medium"/>
              <a:sym typeface="Lexend Medium"/>
            </a:endParaRPr>
          </a:p>
          <a:p>
            <a:pPr indent="-317500" lvl="0" marL="457200" rtl="0" algn="l">
              <a:lnSpc>
                <a:spcPct val="95000"/>
              </a:lnSpc>
              <a:spcBef>
                <a:spcPts val="0"/>
              </a:spcBef>
              <a:spcAft>
                <a:spcPts val="0"/>
              </a:spcAft>
              <a:buClr>
                <a:srgbClr val="F3F3F3"/>
              </a:buClr>
              <a:buSzPts val="1400"/>
              <a:buFont typeface="Lexend Medium"/>
              <a:buChar char="●"/>
            </a:pPr>
            <a:r>
              <a:rPr lang="en" sz="1400">
                <a:solidFill>
                  <a:srgbClr val="294C7A"/>
                </a:solidFill>
                <a:latin typeface="Lexend Medium"/>
                <a:ea typeface="Lexend Medium"/>
                <a:cs typeface="Lexend Medium"/>
                <a:sym typeface="Lexend Medium"/>
              </a:rPr>
              <a:t>Minor concerns related to food variety, pricing, and weather comfort,</a:t>
            </a:r>
            <a:r>
              <a:rPr lang="en" sz="1400">
                <a:solidFill>
                  <a:srgbClr val="F3F3F3"/>
                </a:solidFill>
                <a:latin typeface="Lexend Medium"/>
                <a:ea typeface="Lexend Medium"/>
                <a:cs typeface="Lexend Medium"/>
                <a:sym typeface="Lexend Medium"/>
              </a:rPr>
              <a:t> but cruises remain one of Darwin’s most memorable and well-rated tourist experiences.</a:t>
            </a:r>
            <a:br>
              <a:rPr lang="en" sz="1400">
                <a:solidFill>
                  <a:srgbClr val="F3F3F3"/>
                </a:solidFill>
                <a:latin typeface="Lexend Medium"/>
                <a:ea typeface="Lexend Medium"/>
                <a:cs typeface="Lexend Medium"/>
                <a:sym typeface="Lexend Medium"/>
              </a:rPr>
            </a:br>
            <a:endParaRPr sz="1400">
              <a:solidFill>
                <a:srgbClr val="F3F3F3"/>
              </a:solidFill>
              <a:latin typeface="Lexend Medium"/>
              <a:ea typeface="Lexend Medium"/>
              <a:cs typeface="Lexend Medium"/>
              <a:sym typeface="Lexend Medium"/>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pic>
        <p:nvPicPr>
          <p:cNvPr id="131" name="Google Shape;131;p20" title="output.png"/>
          <p:cNvPicPr preferRelativeResize="0"/>
          <p:nvPr/>
        </p:nvPicPr>
        <p:blipFill>
          <a:blip r:embed="rId3">
            <a:alphaModFix/>
          </a:blip>
          <a:stretch>
            <a:fillRect/>
          </a:stretch>
        </p:blipFill>
        <p:spPr>
          <a:xfrm>
            <a:off x="1013700" y="1181000"/>
            <a:ext cx="7116600" cy="3633600"/>
          </a:xfrm>
          <a:prstGeom prst="roundRect">
            <a:avLst>
              <a:gd fmla="val 16667" name="adj"/>
            </a:avLst>
          </a:prstGeom>
          <a:noFill/>
          <a:ln>
            <a:noFill/>
          </a:ln>
        </p:spPr>
      </p:pic>
      <p:sp>
        <p:nvSpPr>
          <p:cNvPr id="132" name="Google Shape;132;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solidFill>
                  <a:srgbClr val="E06666"/>
                </a:solidFill>
                <a:latin typeface="Lexend Black"/>
                <a:ea typeface="Lexend Black"/>
                <a:cs typeface="Lexend Black"/>
                <a:sym typeface="Lexend Black"/>
              </a:rPr>
              <a:t>Word cloud for cruises</a:t>
            </a:r>
            <a:endParaRPr>
              <a:solidFill>
                <a:srgbClr val="E06666"/>
              </a:solidFill>
              <a:latin typeface="Lexend Black"/>
              <a:ea typeface="Lexend Black"/>
              <a:cs typeface="Lexend Black"/>
              <a:sym typeface="Lexend Black"/>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pic>
        <p:nvPicPr>
          <p:cNvPr id="137" name="Google Shape;137;p21" title="a.png"/>
          <p:cNvPicPr preferRelativeResize="0"/>
          <p:nvPr/>
        </p:nvPicPr>
        <p:blipFill rotWithShape="1">
          <a:blip r:embed="rId3">
            <a:alphaModFix/>
          </a:blip>
          <a:srcRect b="0" l="0" r="0" t="7484"/>
          <a:stretch/>
        </p:blipFill>
        <p:spPr>
          <a:xfrm>
            <a:off x="1051200" y="1217850"/>
            <a:ext cx="7041600" cy="3512700"/>
          </a:xfrm>
          <a:prstGeom prst="roundRect">
            <a:avLst>
              <a:gd fmla="val 16667" name="adj"/>
            </a:avLst>
          </a:prstGeom>
          <a:noFill/>
          <a:ln>
            <a:noFill/>
          </a:ln>
        </p:spPr>
      </p:pic>
      <p:sp>
        <p:nvSpPr>
          <p:cNvPr id="138" name="Google Shape;138;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solidFill>
                  <a:srgbClr val="E06666"/>
                </a:solidFill>
                <a:latin typeface="Lexend Black"/>
                <a:ea typeface="Lexend Black"/>
                <a:cs typeface="Lexend Black"/>
                <a:sym typeface="Lexend Black"/>
              </a:rPr>
              <a:t>Negative w</a:t>
            </a:r>
            <a:r>
              <a:rPr lang="en">
                <a:solidFill>
                  <a:srgbClr val="E06666"/>
                </a:solidFill>
                <a:latin typeface="Lexend Black"/>
                <a:ea typeface="Lexend Black"/>
                <a:cs typeface="Lexend Black"/>
                <a:sym typeface="Lexend Black"/>
              </a:rPr>
              <a:t>ord cloud for cruises</a:t>
            </a:r>
            <a:endParaRPr>
              <a:solidFill>
                <a:srgbClr val="E06666"/>
              </a:solidFill>
              <a:latin typeface="Lexend Black"/>
              <a:ea typeface="Lexend Black"/>
              <a:cs typeface="Lexend Black"/>
              <a:sym typeface="Lexend Black"/>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grpSp>
        <p:nvGrpSpPr>
          <p:cNvPr id="143" name="Google Shape;143;p22"/>
          <p:cNvGrpSpPr/>
          <p:nvPr/>
        </p:nvGrpSpPr>
        <p:grpSpPr>
          <a:xfrm rot="-7336905">
            <a:off x="6976578" y="3243121"/>
            <a:ext cx="2987228" cy="4002173"/>
            <a:chOff x="5029187" y="-1563869"/>
            <a:chExt cx="5110275" cy="6846550"/>
          </a:xfrm>
        </p:grpSpPr>
        <p:sp>
          <p:nvSpPr>
            <p:cNvPr id="144" name="Google Shape;144;p22"/>
            <p:cNvSpPr/>
            <p:nvPr/>
          </p:nvSpPr>
          <p:spPr>
            <a:xfrm>
              <a:off x="5171712" y="-1563869"/>
              <a:ext cx="3353400" cy="3353400"/>
            </a:xfrm>
            <a:prstGeom prst="ellipse">
              <a:avLst/>
            </a:prstGeom>
            <a:solidFill>
              <a:srgbClr val="B4A7D6"/>
            </a:solidFill>
            <a:ln>
              <a:noFill/>
            </a:ln>
          </p:spPr>
          <p:txBody>
            <a:bodyPr anchorCtr="0" anchor="ctr" bIns="53450" lIns="53450" spcFirstLastPara="1" rIns="53450" wrap="square" tIns="53450">
              <a:noAutofit/>
            </a:bodyPr>
            <a:lstStyle/>
            <a:p>
              <a:pPr indent="0" lvl="0" marL="0" rtl="0" algn="ctr">
                <a:spcBef>
                  <a:spcPts val="0"/>
                </a:spcBef>
                <a:spcAft>
                  <a:spcPts val="0"/>
                </a:spcAft>
                <a:buNone/>
              </a:pPr>
              <a:r>
                <a:t/>
              </a:r>
              <a:endParaRPr sz="818"/>
            </a:p>
          </p:txBody>
        </p:sp>
        <p:sp>
          <p:nvSpPr>
            <p:cNvPr id="145" name="Google Shape;145;p22"/>
            <p:cNvSpPr/>
            <p:nvPr/>
          </p:nvSpPr>
          <p:spPr>
            <a:xfrm>
              <a:off x="6666062" y="-282594"/>
              <a:ext cx="3353400" cy="3353400"/>
            </a:xfrm>
            <a:prstGeom prst="ellipse">
              <a:avLst/>
            </a:prstGeom>
            <a:solidFill>
              <a:srgbClr val="A4C2F4"/>
            </a:solidFill>
            <a:ln>
              <a:noFill/>
            </a:ln>
          </p:spPr>
          <p:txBody>
            <a:bodyPr anchorCtr="0" anchor="ctr" bIns="53450" lIns="53450" spcFirstLastPara="1" rIns="53450" wrap="square" tIns="53450">
              <a:noAutofit/>
            </a:bodyPr>
            <a:lstStyle/>
            <a:p>
              <a:pPr indent="0" lvl="0" marL="0" rtl="0" algn="ctr">
                <a:spcBef>
                  <a:spcPts val="0"/>
                </a:spcBef>
                <a:spcAft>
                  <a:spcPts val="0"/>
                </a:spcAft>
                <a:buNone/>
              </a:pPr>
              <a:r>
                <a:t/>
              </a:r>
              <a:endParaRPr sz="818"/>
            </a:p>
          </p:txBody>
        </p:sp>
        <p:sp>
          <p:nvSpPr>
            <p:cNvPr id="146" name="Google Shape;146;p22"/>
            <p:cNvSpPr/>
            <p:nvPr/>
          </p:nvSpPr>
          <p:spPr>
            <a:xfrm>
              <a:off x="5029187" y="1319306"/>
              <a:ext cx="3353400" cy="3353400"/>
            </a:xfrm>
            <a:prstGeom prst="ellipse">
              <a:avLst/>
            </a:prstGeom>
            <a:solidFill>
              <a:srgbClr val="EA9999"/>
            </a:solidFill>
            <a:ln>
              <a:noFill/>
            </a:ln>
          </p:spPr>
          <p:txBody>
            <a:bodyPr anchorCtr="0" anchor="ctr" bIns="53450" lIns="53450" spcFirstLastPara="1" rIns="53450" wrap="square" tIns="53450">
              <a:noAutofit/>
            </a:bodyPr>
            <a:lstStyle/>
            <a:p>
              <a:pPr indent="0" lvl="0" marL="0" rtl="0" algn="ctr">
                <a:spcBef>
                  <a:spcPts val="0"/>
                </a:spcBef>
                <a:spcAft>
                  <a:spcPts val="0"/>
                </a:spcAft>
                <a:buNone/>
              </a:pPr>
              <a:r>
                <a:t/>
              </a:r>
              <a:endParaRPr sz="818"/>
            </a:p>
          </p:txBody>
        </p:sp>
        <p:sp>
          <p:nvSpPr>
            <p:cNvPr id="147" name="Google Shape;147;p22"/>
            <p:cNvSpPr/>
            <p:nvPr/>
          </p:nvSpPr>
          <p:spPr>
            <a:xfrm>
              <a:off x="6786062" y="1929281"/>
              <a:ext cx="3353400" cy="3353400"/>
            </a:xfrm>
            <a:prstGeom prst="ellipse">
              <a:avLst/>
            </a:prstGeom>
            <a:solidFill>
              <a:srgbClr val="D9EAD3"/>
            </a:solidFill>
            <a:ln>
              <a:noFill/>
            </a:ln>
          </p:spPr>
          <p:txBody>
            <a:bodyPr anchorCtr="0" anchor="ctr" bIns="53450" lIns="53450" spcFirstLastPara="1" rIns="53450" wrap="square" tIns="53450">
              <a:noAutofit/>
            </a:bodyPr>
            <a:lstStyle/>
            <a:p>
              <a:pPr indent="0" lvl="0" marL="0" rtl="0" algn="ctr">
                <a:spcBef>
                  <a:spcPts val="0"/>
                </a:spcBef>
                <a:spcAft>
                  <a:spcPts val="0"/>
                </a:spcAft>
                <a:buNone/>
              </a:pPr>
              <a:r>
                <a:t/>
              </a:r>
              <a:endParaRPr sz="818"/>
            </a:p>
          </p:txBody>
        </p:sp>
      </p:grpSp>
      <p:sp>
        <p:nvSpPr>
          <p:cNvPr id="148" name="Google Shape;148;p22"/>
          <p:cNvSpPr txBox="1"/>
          <p:nvPr>
            <p:ph idx="1" type="body"/>
          </p:nvPr>
        </p:nvSpPr>
        <p:spPr>
          <a:xfrm>
            <a:off x="311700" y="973525"/>
            <a:ext cx="4620900" cy="4002300"/>
          </a:xfrm>
          <a:prstGeom prst="rect">
            <a:avLst/>
          </a:prstGeom>
        </p:spPr>
        <p:txBody>
          <a:bodyPr anchorCtr="0" anchor="t" bIns="91425" lIns="91425" spcFirstLastPara="1" rIns="91425" wrap="square" tIns="91425">
            <a:noAutofit/>
          </a:bodyPr>
          <a:lstStyle/>
          <a:p>
            <a:pPr indent="-319087" lvl="0" marL="457200" rtl="0" algn="l">
              <a:lnSpc>
                <a:spcPct val="95000"/>
              </a:lnSpc>
              <a:spcBef>
                <a:spcPts val="0"/>
              </a:spcBef>
              <a:spcAft>
                <a:spcPts val="0"/>
              </a:spcAft>
              <a:buClr>
                <a:srgbClr val="F3F3F3"/>
              </a:buClr>
              <a:buSzPts val="1425"/>
              <a:buFont typeface="Lexend Medium"/>
              <a:buChar char="●"/>
            </a:pPr>
            <a:r>
              <a:rPr lang="en" sz="1425">
                <a:solidFill>
                  <a:srgbClr val="F3F3F3"/>
                </a:solidFill>
                <a:latin typeface="Lexend Medium"/>
                <a:ea typeface="Lexend Medium"/>
                <a:cs typeface="Lexend Medium"/>
                <a:sym typeface="Lexend Medium"/>
              </a:rPr>
              <a:t>Our museums dataset consisted of reviews from:</a:t>
            </a:r>
            <a:endParaRPr sz="1425">
              <a:solidFill>
                <a:srgbClr val="F3F3F3"/>
              </a:solidFill>
              <a:latin typeface="Lexend Medium"/>
              <a:ea typeface="Lexend Medium"/>
              <a:cs typeface="Lexend Medium"/>
              <a:sym typeface="Lexend Medium"/>
            </a:endParaRPr>
          </a:p>
          <a:p>
            <a:pPr indent="-303212" lvl="1" marL="914400" rtl="0" algn="l">
              <a:lnSpc>
                <a:spcPct val="95000"/>
              </a:lnSpc>
              <a:spcBef>
                <a:spcPts val="0"/>
              </a:spcBef>
              <a:spcAft>
                <a:spcPts val="0"/>
              </a:spcAft>
              <a:buClr>
                <a:srgbClr val="F3F3F3"/>
              </a:buClr>
              <a:buSzPts val="1175"/>
              <a:buFont typeface="Lexend Medium"/>
              <a:buChar char="○"/>
            </a:pPr>
            <a:r>
              <a:rPr lang="en" sz="1175">
                <a:solidFill>
                  <a:srgbClr val="F3F3F3"/>
                </a:solidFill>
                <a:latin typeface="Lexend Medium"/>
                <a:ea typeface="Lexend Medium"/>
                <a:cs typeface="Lexend Medium"/>
                <a:sym typeface="Lexend Medium"/>
              </a:rPr>
              <a:t>Darwin Military museum.</a:t>
            </a:r>
            <a:endParaRPr sz="1175">
              <a:solidFill>
                <a:srgbClr val="F3F3F3"/>
              </a:solidFill>
              <a:latin typeface="Lexend Medium"/>
              <a:ea typeface="Lexend Medium"/>
              <a:cs typeface="Lexend Medium"/>
              <a:sym typeface="Lexend Medium"/>
            </a:endParaRPr>
          </a:p>
          <a:p>
            <a:pPr indent="-303212" lvl="1" marL="914400" rtl="0" algn="l">
              <a:lnSpc>
                <a:spcPct val="95000"/>
              </a:lnSpc>
              <a:spcBef>
                <a:spcPts val="0"/>
              </a:spcBef>
              <a:spcAft>
                <a:spcPts val="0"/>
              </a:spcAft>
              <a:buClr>
                <a:srgbClr val="F3F3F3"/>
              </a:buClr>
              <a:buSzPts val="1175"/>
              <a:buFont typeface="Lexend Medium"/>
              <a:buChar char="○"/>
            </a:pPr>
            <a:r>
              <a:rPr lang="en" sz="1175">
                <a:solidFill>
                  <a:srgbClr val="F3F3F3"/>
                </a:solidFill>
                <a:latin typeface="Lexend Medium"/>
                <a:ea typeface="Lexend Medium"/>
                <a:cs typeface="Lexend Medium"/>
                <a:sym typeface="Lexend Medium"/>
              </a:rPr>
              <a:t>Museum and ARt Gallery of the Northern Territory.</a:t>
            </a:r>
            <a:endParaRPr sz="1175">
              <a:solidFill>
                <a:srgbClr val="F3F3F3"/>
              </a:solidFill>
              <a:latin typeface="Lexend Medium"/>
              <a:ea typeface="Lexend Medium"/>
              <a:cs typeface="Lexend Medium"/>
              <a:sym typeface="Lexend Medium"/>
            </a:endParaRPr>
          </a:p>
          <a:p>
            <a:pPr indent="-303212" lvl="1" marL="914400" rtl="0" algn="l">
              <a:lnSpc>
                <a:spcPct val="95000"/>
              </a:lnSpc>
              <a:spcBef>
                <a:spcPts val="0"/>
              </a:spcBef>
              <a:spcAft>
                <a:spcPts val="0"/>
              </a:spcAft>
              <a:buClr>
                <a:srgbClr val="F3F3F3"/>
              </a:buClr>
              <a:buSzPts val="1175"/>
              <a:buFont typeface="Lexend Medium"/>
              <a:buChar char="○"/>
            </a:pPr>
            <a:r>
              <a:rPr lang="en" sz="1175">
                <a:solidFill>
                  <a:srgbClr val="F3F3F3"/>
                </a:solidFill>
                <a:latin typeface="Lexend Medium"/>
                <a:ea typeface="Lexend Medium"/>
                <a:cs typeface="Lexend Medium"/>
                <a:sym typeface="Lexend Medium"/>
              </a:rPr>
              <a:t>Royal Flying Doctor tourist facility.</a:t>
            </a:r>
            <a:endParaRPr sz="1175">
              <a:solidFill>
                <a:srgbClr val="F3F3F3"/>
              </a:solidFill>
              <a:latin typeface="Lexend Medium"/>
              <a:ea typeface="Lexend Medium"/>
              <a:cs typeface="Lexend Medium"/>
              <a:sym typeface="Lexend Medium"/>
            </a:endParaRPr>
          </a:p>
          <a:p>
            <a:pPr indent="-303212" lvl="1" marL="914400" rtl="0" algn="l">
              <a:lnSpc>
                <a:spcPct val="95000"/>
              </a:lnSpc>
              <a:spcBef>
                <a:spcPts val="0"/>
              </a:spcBef>
              <a:spcAft>
                <a:spcPts val="0"/>
              </a:spcAft>
              <a:buClr>
                <a:srgbClr val="F3F3F3"/>
              </a:buClr>
              <a:buSzPts val="1175"/>
              <a:buFont typeface="Lexend Medium"/>
              <a:buChar char="○"/>
            </a:pPr>
            <a:r>
              <a:rPr lang="en" sz="1175">
                <a:solidFill>
                  <a:srgbClr val="F3F3F3"/>
                </a:solidFill>
                <a:latin typeface="Lexend Medium"/>
                <a:ea typeface="Lexend Medium"/>
                <a:cs typeface="Lexend Medium"/>
                <a:sym typeface="Lexend Medium"/>
              </a:rPr>
              <a:t>Darwin Aviation Museum.</a:t>
            </a:r>
            <a:endParaRPr sz="1175">
              <a:solidFill>
                <a:srgbClr val="F3F3F3"/>
              </a:solidFill>
              <a:latin typeface="Lexend Medium"/>
              <a:ea typeface="Lexend Medium"/>
              <a:cs typeface="Lexend Medium"/>
              <a:sym typeface="Lexend Medium"/>
            </a:endParaRPr>
          </a:p>
          <a:p>
            <a:pPr indent="-303212" lvl="1" marL="914400" rtl="0" algn="l">
              <a:lnSpc>
                <a:spcPct val="95000"/>
              </a:lnSpc>
              <a:spcBef>
                <a:spcPts val="0"/>
              </a:spcBef>
              <a:spcAft>
                <a:spcPts val="0"/>
              </a:spcAft>
              <a:buClr>
                <a:srgbClr val="F3F3F3"/>
              </a:buClr>
              <a:buSzPts val="1175"/>
              <a:buFont typeface="Lexend Medium"/>
              <a:buChar char="○"/>
            </a:pPr>
            <a:r>
              <a:rPr lang="en" sz="1175">
                <a:solidFill>
                  <a:srgbClr val="F3F3F3"/>
                </a:solidFill>
                <a:latin typeface="Lexend Medium"/>
                <a:ea typeface="Lexend Medium"/>
                <a:cs typeface="Lexend Medium"/>
                <a:sym typeface="Lexend Medium"/>
              </a:rPr>
              <a:t>Darwin Military Museum.</a:t>
            </a:r>
            <a:br>
              <a:rPr lang="en" sz="1175">
                <a:solidFill>
                  <a:srgbClr val="F3F3F3"/>
                </a:solidFill>
                <a:latin typeface="Lexend Medium"/>
                <a:ea typeface="Lexend Medium"/>
                <a:cs typeface="Lexend Medium"/>
                <a:sym typeface="Lexend Medium"/>
              </a:rPr>
            </a:br>
            <a:endParaRPr sz="1175">
              <a:solidFill>
                <a:srgbClr val="F3F3F3"/>
              </a:solidFill>
              <a:latin typeface="Lexend Medium"/>
              <a:ea typeface="Lexend Medium"/>
              <a:cs typeface="Lexend Medium"/>
              <a:sym typeface="Lexend Medium"/>
            </a:endParaRPr>
          </a:p>
          <a:p>
            <a:pPr indent="-319087" lvl="0" marL="457200" rtl="0" algn="l">
              <a:lnSpc>
                <a:spcPct val="95000"/>
              </a:lnSpc>
              <a:spcBef>
                <a:spcPts val="0"/>
              </a:spcBef>
              <a:spcAft>
                <a:spcPts val="0"/>
              </a:spcAft>
              <a:buClr>
                <a:srgbClr val="F3F3F3"/>
              </a:buClr>
              <a:buSzPts val="1425"/>
              <a:buFont typeface="Lexend Medium"/>
              <a:buChar char="●"/>
            </a:pPr>
            <a:r>
              <a:rPr lang="en" sz="1425">
                <a:solidFill>
                  <a:srgbClr val="294C7A"/>
                </a:solidFill>
                <a:latin typeface="Lexend Medium"/>
                <a:ea typeface="Lexend Medium"/>
                <a:cs typeface="Lexend Medium"/>
                <a:sym typeface="Lexend Medium"/>
              </a:rPr>
              <a:t>The overall sentiment</a:t>
            </a:r>
            <a:r>
              <a:rPr lang="en" sz="1425">
                <a:solidFill>
                  <a:schemeClr val="dk1"/>
                </a:solidFill>
                <a:latin typeface="Lexend Medium"/>
                <a:ea typeface="Lexend Medium"/>
                <a:cs typeface="Lexend Medium"/>
                <a:sym typeface="Lexend Medium"/>
              </a:rPr>
              <a:t> </a:t>
            </a:r>
            <a:r>
              <a:rPr lang="en" sz="1425">
                <a:solidFill>
                  <a:srgbClr val="F3F3F3"/>
                </a:solidFill>
                <a:latin typeface="Lexend Medium"/>
                <a:ea typeface="Lexend Medium"/>
                <a:cs typeface="Lexend Medium"/>
                <a:sym typeface="Lexend Medium"/>
              </a:rPr>
              <a:t>for museums </a:t>
            </a:r>
            <a:r>
              <a:rPr lang="en" sz="1425">
                <a:solidFill>
                  <a:srgbClr val="294C7A"/>
                </a:solidFill>
                <a:latin typeface="Lexend Medium"/>
                <a:ea typeface="Lexend Medium"/>
                <a:cs typeface="Lexend Medium"/>
                <a:sym typeface="Lexend Medium"/>
              </a:rPr>
              <a:t>reflected enjoyment</a:t>
            </a:r>
            <a:r>
              <a:rPr lang="en" sz="1425">
                <a:solidFill>
                  <a:srgbClr val="F3F3F3"/>
                </a:solidFill>
                <a:latin typeface="Lexend Medium"/>
                <a:ea typeface="Lexend Medium"/>
                <a:cs typeface="Lexend Medium"/>
                <a:sym typeface="Lexend Medium"/>
              </a:rPr>
              <a:t> of the exhibitions, especially towards the Aboriginal art pieces from the Museum and art gallery of </a:t>
            </a:r>
            <a:r>
              <a:rPr lang="en" sz="1425">
                <a:solidFill>
                  <a:srgbClr val="F3F3F3"/>
                </a:solidFill>
                <a:latin typeface="Lexend Medium"/>
                <a:ea typeface="Lexend Medium"/>
                <a:cs typeface="Lexend Medium"/>
                <a:sym typeface="Lexend Medium"/>
              </a:rPr>
              <a:t>the</a:t>
            </a:r>
            <a:r>
              <a:rPr lang="en" sz="1425">
                <a:solidFill>
                  <a:srgbClr val="F3F3F3"/>
                </a:solidFill>
                <a:latin typeface="Lexend Medium"/>
                <a:ea typeface="Lexend Medium"/>
                <a:cs typeface="Lexend Medium"/>
                <a:sym typeface="Lexend Medium"/>
              </a:rPr>
              <a:t> Northern Territory.</a:t>
            </a:r>
            <a:r>
              <a:rPr lang="en" sz="1425">
                <a:solidFill>
                  <a:schemeClr val="dk1"/>
                </a:solidFill>
                <a:latin typeface="Lexend Medium"/>
                <a:ea typeface="Lexend Medium"/>
                <a:cs typeface="Lexend Medium"/>
                <a:sym typeface="Lexend Medium"/>
              </a:rPr>
              <a:t> </a:t>
            </a:r>
            <a:r>
              <a:rPr lang="en" sz="1425">
                <a:solidFill>
                  <a:srgbClr val="294C7A"/>
                </a:solidFill>
                <a:latin typeface="Lexend Medium"/>
                <a:ea typeface="Lexend Medium"/>
                <a:cs typeface="Lexend Medium"/>
                <a:sym typeface="Lexend Medium"/>
              </a:rPr>
              <a:t>Another interesting reflection</a:t>
            </a:r>
            <a:r>
              <a:rPr lang="en" sz="1425">
                <a:solidFill>
                  <a:schemeClr val="dk1"/>
                </a:solidFill>
                <a:latin typeface="Lexend Medium"/>
                <a:ea typeface="Lexend Medium"/>
                <a:cs typeface="Lexend Medium"/>
                <a:sym typeface="Lexend Medium"/>
              </a:rPr>
              <a:t> </a:t>
            </a:r>
            <a:r>
              <a:rPr lang="en" sz="1425">
                <a:solidFill>
                  <a:srgbClr val="F3F3F3"/>
                </a:solidFill>
                <a:latin typeface="Lexend Medium"/>
                <a:ea typeface="Lexend Medium"/>
                <a:cs typeface="Lexend Medium"/>
                <a:sym typeface="Lexend Medium"/>
              </a:rPr>
              <a:t>from tourists</a:t>
            </a:r>
            <a:r>
              <a:rPr lang="en" sz="1425">
                <a:solidFill>
                  <a:schemeClr val="dk1"/>
                </a:solidFill>
                <a:latin typeface="Lexend Medium"/>
                <a:ea typeface="Lexend Medium"/>
                <a:cs typeface="Lexend Medium"/>
                <a:sym typeface="Lexend Medium"/>
              </a:rPr>
              <a:t> </a:t>
            </a:r>
            <a:r>
              <a:rPr lang="en" sz="1425">
                <a:solidFill>
                  <a:srgbClr val="294C7A"/>
                </a:solidFill>
                <a:latin typeface="Lexend Medium"/>
                <a:ea typeface="Lexend Medium"/>
                <a:cs typeface="Lexend Medium"/>
                <a:sym typeface="Lexend Medium"/>
              </a:rPr>
              <a:t>is in relation to the tragic Cyclone Tracy</a:t>
            </a:r>
            <a:r>
              <a:rPr lang="en" sz="1425">
                <a:solidFill>
                  <a:schemeClr val="dk1"/>
                </a:solidFill>
                <a:latin typeface="Lexend Medium"/>
                <a:ea typeface="Lexend Medium"/>
                <a:cs typeface="Lexend Medium"/>
                <a:sym typeface="Lexend Medium"/>
              </a:rPr>
              <a:t> </a:t>
            </a:r>
            <a:r>
              <a:rPr lang="en" sz="1425">
                <a:solidFill>
                  <a:srgbClr val="F3F3F3"/>
                </a:solidFill>
                <a:latin typeface="Lexend Medium"/>
                <a:ea typeface="Lexend Medium"/>
                <a:cs typeface="Lexend Medium"/>
                <a:sym typeface="Lexend Medium"/>
              </a:rPr>
              <a:t>that devastated Darwin in 1974, as tourists are </a:t>
            </a:r>
            <a:r>
              <a:rPr lang="en" sz="1425">
                <a:solidFill>
                  <a:srgbClr val="294C7A"/>
                </a:solidFill>
                <a:latin typeface="Lexend Medium"/>
                <a:ea typeface="Lexend Medium"/>
                <a:cs typeface="Lexend Medium"/>
                <a:sym typeface="Lexend Medium"/>
              </a:rPr>
              <a:t>astounded about the resilience of the people of Darwin</a:t>
            </a:r>
            <a:r>
              <a:rPr lang="en" sz="1425">
                <a:solidFill>
                  <a:srgbClr val="F3F3F3"/>
                </a:solidFill>
                <a:latin typeface="Lexend Medium"/>
                <a:ea typeface="Lexend Medium"/>
                <a:cs typeface="Lexend Medium"/>
                <a:sym typeface="Lexend Medium"/>
              </a:rPr>
              <a:t>, to bounce back from such a devastating disaster.</a:t>
            </a:r>
            <a:br>
              <a:rPr lang="en" sz="1425">
                <a:solidFill>
                  <a:srgbClr val="F3F3F3"/>
                </a:solidFill>
                <a:latin typeface="Lexend Medium"/>
                <a:ea typeface="Lexend Medium"/>
                <a:cs typeface="Lexend Medium"/>
                <a:sym typeface="Lexend Medium"/>
              </a:rPr>
            </a:br>
            <a:endParaRPr sz="1425">
              <a:solidFill>
                <a:srgbClr val="F3F3F3"/>
              </a:solidFill>
              <a:latin typeface="Lexend Medium"/>
              <a:ea typeface="Lexend Medium"/>
              <a:cs typeface="Lexend Medium"/>
              <a:sym typeface="Lexend Medium"/>
            </a:endParaRPr>
          </a:p>
        </p:txBody>
      </p:sp>
      <p:sp>
        <p:nvSpPr>
          <p:cNvPr id="149" name="Google Shape;149;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E06666"/>
                </a:solidFill>
                <a:latin typeface="Lexend Black"/>
                <a:ea typeface="Lexend Black"/>
                <a:cs typeface="Lexend Black"/>
                <a:sym typeface="Lexend Black"/>
              </a:rPr>
              <a:t>Museums</a:t>
            </a:r>
            <a:endParaRPr>
              <a:solidFill>
                <a:srgbClr val="E06666"/>
              </a:solidFill>
              <a:latin typeface="Lexend Black"/>
              <a:ea typeface="Lexend Black"/>
              <a:cs typeface="Lexend Black"/>
              <a:sym typeface="Lexend Black"/>
            </a:endParaRPr>
          </a:p>
        </p:txBody>
      </p:sp>
      <p:grpSp>
        <p:nvGrpSpPr>
          <p:cNvPr id="150" name="Google Shape;150;p22"/>
          <p:cNvGrpSpPr/>
          <p:nvPr/>
        </p:nvGrpSpPr>
        <p:grpSpPr>
          <a:xfrm rot="-1898569">
            <a:off x="7063625" y="-994302"/>
            <a:ext cx="2987524" cy="4002569"/>
            <a:chOff x="5029187" y="-1563869"/>
            <a:chExt cx="5110275" cy="6846550"/>
          </a:xfrm>
        </p:grpSpPr>
        <p:sp>
          <p:nvSpPr>
            <p:cNvPr id="151" name="Google Shape;151;p22"/>
            <p:cNvSpPr/>
            <p:nvPr/>
          </p:nvSpPr>
          <p:spPr>
            <a:xfrm>
              <a:off x="5171712" y="-1563869"/>
              <a:ext cx="3353400" cy="3353400"/>
            </a:xfrm>
            <a:prstGeom prst="ellipse">
              <a:avLst/>
            </a:prstGeom>
            <a:solidFill>
              <a:srgbClr val="B4A7D6"/>
            </a:solidFill>
            <a:ln>
              <a:noFill/>
            </a:ln>
          </p:spPr>
          <p:txBody>
            <a:bodyPr anchorCtr="0" anchor="ctr" bIns="53450" lIns="53450" spcFirstLastPara="1" rIns="53450" wrap="square" tIns="53450">
              <a:noAutofit/>
            </a:bodyPr>
            <a:lstStyle/>
            <a:p>
              <a:pPr indent="0" lvl="0" marL="0" rtl="0" algn="ctr">
                <a:spcBef>
                  <a:spcPts val="0"/>
                </a:spcBef>
                <a:spcAft>
                  <a:spcPts val="0"/>
                </a:spcAft>
                <a:buNone/>
              </a:pPr>
              <a:r>
                <a:t/>
              </a:r>
              <a:endParaRPr sz="818"/>
            </a:p>
          </p:txBody>
        </p:sp>
        <p:sp>
          <p:nvSpPr>
            <p:cNvPr id="152" name="Google Shape;152;p22"/>
            <p:cNvSpPr/>
            <p:nvPr/>
          </p:nvSpPr>
          <p:spPr>
            <a:xfrm>
              <a:off x="6666062" y="-282594"/>
              <a:ext cx="3353400" cy="3353400"/>
            </a:xfrm>
            <a:prstGeom prst="ellipse">
              <a:avLst/>
            </a:prstGeom>
            <a:solidFill>
              <a:srgbClr val="A4C2F4"/>
            </a:solidFill>
            <a:ln>
              <a:noFill/>
            </a:ln>
          </p:spPr>
          <p:txBody>
            <a:bodyPr anchorCtr="0" anchor="ctr" bIns="53450" lIns="53450" spcFirstLastPara="1" rIns="53450" wrap="square" tIns="53450">
              <a:noAutofit/>
            </a:bodyPr>
            <a:lstStyle/>
            <a:p>
              <a:pPr indent="0" lvl="0" marL="0" rtl="0" algn="ctr">
                <a:spcBef>
                  <a:spcPts val="0"/>
                </a:spcBef>
                <a:spcAft>
                  <a:spcPts val="0"/>
                </a:spcAft>
                <a:buNone/>
              </a:pPr>
              <a:r>
                <a:t/>
              </a:r>
              <a:endParaRPr sz="818"/>
            </a:p>
          </p:txBody>
        </p:sp>
        <p:sp>
          <p:nvSpPr>
            <p:cNvPr id="153" name="Google Shape;153;p22"/>
            <p:cNvSpPr/>
            <p:nvPr/>
          </p:nvSpPr>
          <p:spPr>
            <a:xfrm>
              <a:off x="5029187" y="1319306"/>
              <a:ext cx="3353400" cy="3353400"/>
            </a:xfrm>
            <a:prstGeom prst="ellipse">
              <a:avLst/>
            </a:prstGeom>
            <a:solidFill>
              <a:srgbClr val="EA9999"/>
            </a:solidFill>
            <a:ln>
              <a:noFill/>
            </a:ln>
          </p:spPr>
          <p:txBody>
            <a:bodyPr anchorCtr="0" anchor="ctr" bIns="53450" lIns="53450" spcFirstLastPara="1" rIns="53450" wrap="square" tIns="53450">
              <a:noAutofit/>
            </a:bodyPr>
            <a:lstStyle/>
            <a:p>
              <a:pPr indent="0" lvl="0" marL="0" rtl="0" algn="ctr">
                <a:spcBef>
                  <a:spcPts val="0"/>
                </a:spcBef>
                <a:spcAft>
                  <a:spcPts val="0"/>
                </a:spcAft>
                <a:buNone/>
              </a:pPr>
              <a:r>
                <a:t/>
              </a:r>
              <a:endParaRPr sz="818"/>
            </a:p>
          </p:txBody>
        </p:sp>
        <p:sp>
          <p:nvSpPr>
            <p:cNvPr id="154" name="Google Shape;154;p22"/>
            <p:cNvSpPr/>
            <p:nvPr/>
          </p:nvSpPr>
          <p:spPr>
            <a:xfrm>
              <a:off x="6786062" y="1929281"/>
              <a:ext cx="3353400" cy="3353400"/>
            </a:xfrm>
            <a:prstGeom prst="ellipse">
              <a:avLst/>
            </a:prstGeom>
            <a:solidFill>
              <a:srgbClr val="D9EAD3"/>
            </a:solidFill>
            <a:ln>
              <a:noFill/>
            </a:ln>
          </p:spPr>
          <p:txBody>
            <a:bodyPr anchorCtr="0" anchor="ctr" bIns="53450" lIns="53450" spcFirstLastPara="1" rIns="53450" wrap="square" tIns="53450">
              <a:noAutofit/>
            </a:bodyPr>
            <a:lstStyle/>
            <a:p>
              <a:pPr indent="0" lvl="0" marL="0" rtl="0" algn="ctr">
                <a:spcBef>
                  <a:spcPts val="0"/>
                </a:spcBef>
                <a:spcAft>
                  <a:spcPts val="0"/>
                </a:spcAft>
                <a:buNone/>
              </a:pPr>
              <a:r>
                <a:t/>
              </a:r>
              <a:endParaRPr sz="818"/>
            </a:p>
          </p:txBody>
        </p:sp>
      </p:grpSp>
      <p:pic>
        <p:nvPicPr>
          <p:cNvPr id="155" name="Google Shape;155;p22" title="art.JPG"/>
          <p:cNvPicPr preferRelativeResize="0"/>
          <p:nvPr/>
        </p:nvPicPr>
        <p:blipFill rotWithShape="1">
          <a:blip r:embed="rId3">
            <a:alphaModFix/>
          </a:blip>
          <a:srcRect b="0" l="0" r="47478" t="999"/>
          <a:stretch/>
        </p:blipFill>
        <p:spPr>
          <a:xfrm>
            <a:off x="5728951" y="475050"/>
            <a:ext cx="2465400" cy="2096700"/>
          </a:xfrm>
          <a:prstGeom prst="roundRect">
            <a:avLst>
              <a:gd fmla="val 16667" name="adj"/>
            </a:avLst>
          </a:prstGeom>
          <a:noFill/>
          <a:ln>
            <a:noFill/>
          </a:ln>
          <a:effectLst>
            <a:outerShdw blurRad="57150" rotWithShape="0" algn="bl" dir="5400000" dist="19050">
              <a:srgbClr val="000000">
                <a:alpha val="50000"/>
              </a:srgbClr>
            </a:outerShdw>
          </a:effectLst>
        </p:spPr>
      </p:pic>
      <p:pic>
        <p:nvPicPr>
          <p:cNvPr id="156" name="Google Shape;156;p22" title="art.JPG"/>
          <p:cNvPicPr preferRelativeResize="0"/>
          <p:nvPr/>
        </p:nvPicPr>
        <p:blipFill rotWithShape="1">
          <a:blip r:embed="rId3">
            <a:alphaModFix/>
          </a:blip>
          <a:srcRect b="0" l="48691" r="0" t="999"/>
          <a:stretch/>
        </p:blipFill>
        <p:spPr>
          <a:xfrm>
            <a:off x="5757602" y="2773650"/>
            <a:ext cx="2408100" cy="2096700"/>
          </a:xfrm>
          <a:prstGeom prst="roundRect">
            <a:avLst>
              <a:gd fmla="val 16667" name="adj"/>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solidFill>
                  <a:srgbClr val="E06666"/>
                </a:solidFill>
                <a:latin typeface="Lexend Black"/>
                <a:ea typeface="Lexend Black"/>
                <a:cs typeface="Lexend Black"/>
                <a:sym typeface="Lexend Black"/>
              </a:rPr>
              <a:t>Word cloud for Museum</a:t>
            </a:r>
            <a:endParaRPr>
              <a:solidFill>
                <a:srgbClr val="E06666"/>
              </a:solidFill>
              <a:latin typeface="Lexend Black"/>
              <a:ea typeface="Lexend Black"/>
              <a:cs typeface="Lexend Black"/>
              <a:sym typeface="Lexend Black"/>
            </a:endParaRPr>
          </a:p>
        </p:txBody>
      </p:sp>
      <p:pic>
        <p:nvPicPr>
          <p:cNvPr id="162" name="Google Shape;162;p23" title="museum.JPG"/>
          <p:cNvPicPr preferRelativeResize="0"/>
          <p:nvPr/>
        </p:nvPicPr>
        <p:blipFill>
          <a:blip r:embed="rId3">
            <a:alphaModFix/>
          </a:blip>
          <a:stretch>
            <a:fillRect/>
          </a:stretch>
        </p:blipFill>
        <p:spPr>
          <a:xfrm>
            <a:off x="311700" y="1252250"/>
            <a:ext cx="8520600" cy="3416400"/>
          </a:xfrm>
          <a:prstGeom prst="roundRect">
            <a:avLst>
              <a:gd fmla="val 16667" name="adj"/>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solidFill>
                  <a:srgbClr val="E06666"/>
                </a:solidFill>
                <a:latin typeface="Lexend Black"/>
                <a:ea typeface="Lexend Black"/>
                <a:cs typeface="Lexend Black"/>
                <a:sym typeface="Lexend Black"/>
              </a:rPr>
              <a:t>Data about local guides influencing reviews</a:t>
            </a:r>
            <a:endParaRPr>
              <a:solidFill>
                <a:srgbClr val="E06666"/>
              </a:solidFill>
              <a:latin typeface="Lexend Black"/>
              <a:ea typeface="Lexend Black"/>
              <a:cs typeface="Lexend Black"/>
              <a:sym typeface="Lexend Black"/>
            </a:endParaRPr>
          </a:p>
        </p:txBody>
      </p:sp>
      <p:pic>
        <p:nvPicPr>
          <p:cNvPr id="168" name="Google Shape;168;p24" title="guidance.JPG"/>
          <p:cNvPicPr preferRelativeResize="0"/>
          <p:nvPr/>
        </p:nvPicPr>
        <p:blipFill>
          <a:blip r:embed="rId3">
            <a:alphaModFix/>
          </a:blip>
          <a:stretch>
            <a:fillRect/>
          </a:stretch>
        </p:blipFill>
        <p:spPr>
          <a:xfrm>
            <a:off x="767850" y="1216150"/>
            <a:ext cx="7608300" cy="3458100"/>
          </a:xfrm>
          <a:prstGeom prst="roundRect">
            <a:avLst>
              <a:gd fmla="val 16667" name="adj"/>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solidFill>
                  <a:srgbClr val="E06666"/>
                </a:solidFill>
                <a:latin typeface="Lexend Black"/>
                <a:ea typeface="Lexend Black"/>
                <a:cs typeface="Lexend Black"/>
                <a:sym typeface="Lexend Black"/>
              </a:rPr>
              <a:t>Data about no. of tour guides</a:t>
            </a:r>
            <a:endParaRPr>
              <a:solidFill>
                <a:srgbClr val="E06666"/>
              </a:solidFill>
              <a:latin typeface="Lexend Black"/>
              <a:ea typeface="Lexend Black"/>
              <a:cs typeface="Lexend Black"/>
              <a:sym typeface="Lexend Black"/>
            </a:endParaRPr>
          </a:p>
        </p:txBody>
      </p:sp>
      <p:pic>
        <p:nvPicPr>
          <p:cNvPr id="174" name="Google Shape;174;p25" title="poor.JPG"/>
          <p:cNvPicPr preferRelativeResize="0"/>
          <p:nvPr/>
        </p:nvPicPr>
        <p:blipFill>
          <a:blip r:embed="rId3">
            <a:alphaModFix/>
          </a:blip>
          <a:stretch>
            <a:fillRect/>
          </a:stretch>
        </p:blipFill>
        <p:spPr>
          <a:xfrm>
            <a:off x="455850" y="1401150"/>
            <a:ext cx="8232300" cy="2940600"/>
          </a:xfrm>
          <a:prstGeom prst="roundRect">
            <a:avLst>
              <a:gd fmla="val 16667" name="adj"/>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grpSp>
        <p:nvGrpSpPr>
          <p:cNvPr id="179" name="Google Shape;179;p26"/>
          <p:cNvGrpSpPr/>
          <p:nvPr/>
        </p:nvGrpSpPr>
        <p:grpSpPr>
          <a:xfrm rot="-7336905">
            <a:off x="6976578" y="3243121"/>
            <a:ext cx="2987228" cy="4002173"/>
            <a:chOff x="5029187" y="-1563869"/>
            <a:chExt cx="5110275" cy="6846550"/>
          </a:xfrm>
        </p:grpSpPr>
        <p:sp>
          <p:nvSpPr>
            <p:cNvPr id="180" name="Google Shape;180;p26"/>
            <p:cNvSpPr/>
            <p:nvPr/>
          </p:nvSpPr>
          <p:spPr>
            <a:xfrm>
              <a:off x="5171712" y="-1563869"/>
              <a:ext cx="3353400" cy="3353400"/>
            </a:xfrm>
            <a:prstGeom prst="ellipse">
              <a:avLst/>
            </a:prstGeom>
            <a:solidFill>
              <a:srgbClr val="B4A7D6"/>
            </a:solidFill>
            <a:ln>
              <a:noFill/>
            </a:ln>
          </p:spPr>
          <p:txBody>
            <a:bodyPr anchorCtr="0" anchor="ctr" bIns="53450" lIns="53450" spcFirstLastPara="1" rIns="53450" wrap="square" tIns="53450">
              <a:noAutofit/>
            </a:bodyPr>
            <a:lstStyle/>
            <a:p>
              <a:pPr indent="0" lvl="0" marL="0" rtl="0" algn="ctr">
                <a:spcBef>
                  <a:spcPts val="0"/>
                </a:spcBef>
                <a:spcAft>
                  <a:spcPts val="0"/>
                </a:spcAft>
                <a:buNone/>
              </a:pPr>
              <a:r>
                <a:t/>
              </a:r>
              <a:endParaRPr sz="818"/>
            </a:p>
          </p:txBody>
        </p:sp>
        <p:sp>
          <p:nvSpPr>
            <p:cNvPr id="181" name="Google Shape;181;p26"/>
            <p:cNvSpPr/>
            <p:nvPr/>
          </p:nvSpPr>
          <p:spPr>
            <a:xfrm>
              <a:off x="6666062" y="-282594"/>
              <a:ext cx="3353400" cy="3353400"/>
            </a:xfrm>
            <a:prstGeom prst="ellipse">
              <a:avLst/>
            </a:prstGeom>
            <a:solidFill>
              <a:srgbClr val="A4C2F4"/>
            </a:solidFill>
            <a:ln>
              <a:noFill/>
            </a:ln>
          </p:spPr>
          <p:txBody>
            <a:bodyPr anchorCtr="0" anchor="ctr" bIns="53450" lIns="53450" spcFirstLastPara="1" rIns="53450" wrap="square" tIns="53450">
              <a:noAutofit/>
            </a:bodyPr>
            <a:lstStyle/>
            <a:p>
              <a:pPr indent="0" lvl="0" marL="0" rtl="0" algn="ctr">
                <a:spcBef>
                  <a:spcPts val="0"/>
                </a:spcBef>
                <a:spcAft>
                  <a:spcPts val="0"/>
                </a:spcAft>
                <a:buNone/>
              </a:pPr>
              <a:r>
                <a:t/>
              </a:r>
              <a:endParaRPr sz="818"/>
            </a:p>
          </p:txBody>
        </p:sp>
        <p:sp>
          <p:nvSpPr>
            <p:cNvPr id="182" name="Google Shape;182;p26"/>
            <p:cNvSpPr/>
            <p:nvPr/>
          </p:nvSpPr>
          <p:spPr>
            <a:xfrm>
              <a:off x="5029187" y="1319306"/>
              <a:ext cx="3353400" cy="3353400"/>
            </a:xfrm>
            <a:prstGeom prst="ellipse">
              <a:avLst/>
            </a:prstGeom>
            <a:solidFill>
              <a:srgbClr val="EA9999"/>
            </a:solidFill>
            <a:ln>
              <a:noFill/>
            </a:ln>
          </p:spPr>
          <p:txBody>
            <a:bodyPr anchorCtr="0" anchor="ctr" bIns="53450" lIns="53450" spcFirstLastPara="1" rIns="53450" wrap="square" tIns="53450">
              <a:noAutofit/>
            </a:bodyPr>
            <a:lstStyle/>
            <a:p>
              <a:pPr indent="0" lvl="0" marL="0" rtl="0" algn="ctr">
                <a:spcBef>
                  <a:spcPts val="0"/>
                </a:spcBef>
                <a:spcAft>
                  <a:spcPts val="0"/>
                </a:spcAft>
                <a:buNone/>
              </a:pPr>
              <a:r>
                <a:t/>
              </a:r>
              <a:endParaRPr sz="818"/>
            </a:p>
          </p:txBody>
        </p:sp>
        <p:sp>
          <p:nvSpPr>
            <p:cNvPr id="183" name="Google Shape;183;p26"/>
            <p:cNvSpPr/>
            <p:nvPr/>
          </p:nvSpPr>
          <p:spPr>
            <a:xfrm>
              <a:off x="6786062" y="1929281"/>
              <a:ext cx="3353400" cy="3353400"/>
            </a:xfrm>
            <a:prstGeom prst="ellipse">
              <a:avLst/>
            </a:prstGeom>
            <a:solidFill>
              <a:srgbClr val="D9EAD3"/>
            </a:solidFill>
            <a:ln>
              <a:noFill/>
            </a:ln>
          </p:spPr>
          <p:txBody>
            <a:bodyPr anchorCtr="0" anchor="ctr" bIns="53450" lIns="53450" spcFirstLastPara="1" rIns="53450" wrap="square" tIns="53450">
              <a:noAutofit/>
            </a:bodyPr>
            <a:lstStyle/>
            <a:p>
              <a:pPr indent="0" lvl="0" marL="0" rtl="0" algn="ctr">
                <a:spcBef>
                  <a:spcPts val="0"/>
                </a:spcBef>
                <a:spcAft>
                  <a:spcPts val="0"/>
                </a:spcAft>
                <a:buNone/>
              </a:pPr>
              <a:r>
                <a:t/>
              </a:r>
              <a:endParaRPr sz="818"/>
            </a:p>
          </p:txBody>
        </p:sp>
      </p:grpSp>
      <p:grpSp>
        <p:nvGrpSpPr>
          <p:cNvPr id="184" name="Google Shape;184;p26"/>
          <p:cNvGrpSpPr/>
          <p:nvPr/>
        </p:nvGrpSpPr>
        <p:grpSpPr>
          <a:xfrm rot="-1898569">
            <a:off x="7063625" y="-994302"/>
            <a:ext cx="2987524" cy="4002569"/>
            <a:chOff x="5029187" y="-1563869"/>
            <a:chExt cx="5110275" cy="6846550"/>
          </a:xfrm>
        </p:grpSpPr>
        <p:sp>
          <p:nvSpPr>
            <p:cNvPr id="185" name="Google Shape;185;p26"/>
            <p:cNvSpPr/>
            <p:nvPr/>
          </p:nvSpPr>
          <p:spPr>
            <a:xfrm>
              <a:off x="5171712" y="-1563869"/>
              <a:ext cx="3353400" cy="3353400"/>
            </a:xfrm>
            <a:prstGeom prst="ellipse">
              <a:avLst/>
            </a:prstGeom>
            <a:solidFill>
              <a:srgbClr val="B4A7D6"/>
            </a:solidFill>
            <a:ln>
              <a:noFill/>
            </a:ln>
          </p:spPr>
          <p:txBody>
            <a:bodyPr anchorCtr="0" anchor="ctr" bIns="53450" lIns="53450" spcFirstLastPara="1" rIns="53450" wrap="square" tIns="53450">
              <a:noAutofit/>
            </a:bodyPr>
            <a:lstStyle/>
            <a:p>
              <a:pPr indent="0" lvl="0" marL="0" rtl="0" algn="ctr">
                <a:spcBef>
                  <a:spcPts val="0"/>
                </a:spcBef>
                <a:spcAft>
                  <a:spcPts val="0"/>
                </a:spcAft>
                <a:buNone/>
              </a:pPr>
              <a:r>
                <a:t/>
              </a:r>
              <a:endParaRPr sz="818"/>
            </a:p>
          </p:txBody>
        </p:sp>
        <p:sp>
          <p:nvSpPr>
            <p:cNvPr id="186" name="Google Shape;186;p26"/>
            <p:cNvSpPr/>
            <p:nvPr/>
          </p:nvSpPr>
          <p:spPr>
            <a:xfrm>
              <a:off x="6666062" y="-282594"/>
              <a:ext cx="3353400" cy="3353400"/>
            </a:xfrm>
            <a:prstGeom prst="ellipse">
              <a:avLst/>
            </a:prstGeom>
            <a:solidFill>
              <a:srgbClr val="A4C2F4"/>
            </a:solidFill>
            <a:ln>
              <a:noFill/>
            </a:ln>
          </p:spPr>
          <p:txBody>
            <a:bodyPr anchorCtr="0" anchor="ctr" bIns="53450" lIns="53450" spcFirstLastPara="1" rIns="53450" wrap="square" tIns="53450">
              <a:noAutofit/>
            </a:bodyPr>
            <a:lstStyle/>
            <a:p>
              <a:pPr indent="0" lvl="0" marL="0" rtl="0" algn="ctr">
                <a:spcBef>
                  <a:spcPts val="0"/>
                </a:spcBef>
                <a:spcAft>
                  <a:spcPts val="0"/>
                </a:spcAft>
                <a:buNone/>
              </a:pPr>
              <a:r>
                <a:t/>
              </a:r>
              <a:endParaRPr sz="818"/>
            </a:p>
          </p:txBody>
        </p:sp>
        <p:sp>
          <p:nvSpPr>
            <p:cNvPr id="187" name="Google Shape;187;p26"/>
            <p:cNvSpPr/>
            <p:nvPr/>
          </p:nvSpPr>
          <p:spPr>
            <a:xfrm>
              <a:off x="5029187" y="1319306"/>
              <a:ext cx="3353400" cy="3353400"/>
            </a:xfrm>
            <a:prstGeom prst="ellipse">
              <a:avLst/>
            </a:prstGeom>
            <a:solidFill>
              <a:srgbClr val="EA9999"/>
            </a:solidFill>
            <a:ln>
              <a:noFill/>
            </a:ln>
          </p:spPr>
          <p:txBody>
            <a:bodyPr anchorCtr="0" anchor="ctr" bIns="53450" lIns="53450" spcFirstLastPara="1" rIns="53450" wrap="square" tIns="53450">
              <a:noAutofit/>
            </a:bodyPr>
            <a:lstStyle/>
            <a:p>
              <a:pPr indent="0" lvl="0" marL="0" rtl="0" algn="ctr">
                <a:spcBef>
                  <a:spcPts val="0"/>
                </a:spcBef>
                <a:spcAft>
                  <a:spcPts val="0"/>
                </a:spcAft>
                <a:buNone/>
              </a:pPr>
              <a:r>
                <a:t/>
              </a:r>
              <a:endParaRPr sz="818"/>
            </a:p>
          </p:txBody>
        </p:sp>
        <p:sp>
          <p:nvSpPr>
            <p:cNvPr id="188" name="Google Shape;188;p26"/>
            <p:cNvSpPr/>
            <p:nvPr/>
          </p:nvSpPr>
          <p:spPr>
            <a:xfrm>
              <a:off x="6786062" y="1929281"/>
              <a:ext cx="3353400" cy="3353400"/>
            </a:xfrm>
            <a:prstGeom prst="ellipse">
              <a:avLst/>
            </a:prstGeom>
            <a:solidFill>
              <a:srgbClr val="D9EAD3"/>
            </a:solidFill>
            <a:ln>
              <a:noFill/>
            </a:ln>
          </p:spPr>
          <p:txBody>
            <a:bodyPr anchorCtr="0" anchor="ctr" bIns="53450" lIns="53450" spcFirstLastPara="1" rIns="53450" wrap="square" tIns="53450">
              <a:noAutofit/>
            </a:bodyPr>
            <a:lstStyle/>
            <a:p>
              <a:pPr indent="0" lvl="0" marL="0" rtl="0" algn="ctr">
                <a:spcBef>
                  <a:spcPts val="0"/>
                </a:spcBef>
                <a:spcAft>
                  <a:spcPts val="0"/>
                </a:spcAft>
                <a:buNone/>
              </a:pPr>
              <a:r>
                <a:t/>
              </a:r>
              <a:endParaRPr sz="818"/>
            </a:p>
          </p:txBody>
        </p:sp>
      </p:grpSp>
      <p:sp>
        <p:nvSpPr>
          <p:cNvPr id="189" name="Google Shape;189;p26"/>
          <p:cNvSpPr txBox="1"/>
          <p:nvPr>
            <p:ph idx="1" type="body"/>
          </p:nvPr>
        </p:nvSpPr>
        <p:spPr>
          <a:xfrm>
            <a:off x="311700" y="1152475"/>
            <a:ext cx="4389600" cy="3739200"/>
          </a:xfrm>
          <a:prstGeom prst="rect">
            <a:avLst/>
          </a:prstGeom>
        </p:spPr>
        <p:txBody>
          <a:bodyPr anchorCtr="0" anchor="t" bIns="91425" lIns="91425" spcFirstLastPara="1" rIns="91425" wrap="square" tIns="91425">
            <a:noAutofit/>
          </a:bodyPr>
          <a:lstStyle/>
          <a:p>
            <a:pPr indent="-317500" lvl="0" marL="457200" rtl="0" algn="l">
              <a:lnSpc>
                <a:spcPct val="95000"/>
              </a:lnSpc>
              <a:spcBef>
                <a:spcPts val="0"/>
              </a:spcBef>
              <a:spcAft>
                <a:spcPts val="0"/>
              </a:spcAft>
              <a:buClr>
                <a:srgbClr val="F3F3F3"/>
              </a:buClr>
              <a:buSzPts val="1400"/>
              <a:buFont typeface="Lexend Medium"/>
              <a:buChar char="●"/>
            </a:pPr>
            <a:r>
              <a:rPr lang="en" sz="1400">
                <a:solidFill>
                  <a:srgbClr val="F3F3F3"/>
                </a:solidFill>
                <a:latin typeface="Lexend Medium"/>
                <a:ea typeface="Lexend Medium"/>
                <a:cs typeface="Lexend Medium"/>
                <a:sym typeface="Lexend Medium"/>
              </a:rPr>
              <a:t>The dataset consisted of review data </a:t>
            </a:r>
            <a:r>
              <a:rPr lang="en" sz="1400">
                <a:solidFill>
                  <a:srgbClr val="F3F3F3"/>
                </a:solidFill>
                <a:latin typeface="Lexend Medium"/>
                <a:ea typeface="Lexend Medium"/>
                <a:cs typeface="Lexend Medium"/>
                <a:sym typeface="Lexend Medium"/>
              </a:rPr>
              <a:t>from the following national parks:</a:t>
            </a:r>
            <a:endParaRPr sz="1400">
              <a:solidFill>
                <a:srgbClr val="F3F3F3"/>
              </a:solidFill>
              <a:latin typeface="Lexend Medium"/>
              <a:ea typeface="Lexend Medium"/>
              <a:cs typeface="Lexend Medium"/>
              <a:sym typeface="Lexend Medium"/>
            </a:endParaRPr>
          </a:p>
          <a:p>
            <a:pPr indent="-317500" lvl="1" marL="914400" rtl="0" algn="l">
              <a:lnSpc>
                <a:spcPct val="95000"/>
              </a:lnSpc>
              <a:spcBef>
                <a:spcPts val="0"/>
              </a:spcBef>
              <a:spcAft>
                <a:spcPts val="0"/>
              </a:spcAft>
              <a:buClr>
                <a:srgbClr val="F3F3F3"/>
              </a:buClr>
              <a:buSzPts val="1400"/>
              <a:buFont typeface="Lexend Medium"/>
              <a:buChar char="○"/>
            </a:pPr>
            <a:r>
              <a:rPr lang="en">
                <a:solidFill>
                  <a:srgbClr val="F3F3F3"/>
                </a:solidFill>
                <a:latin typeface="Lexend Medium"/>
                <a:ea typeface="Lexend Medium"/>
                <a:cs typeface="Lexend Medium"/>
                <a:sym typeface="Lexend Medium"/>
              </a:rPr>
              <a:t>Litchfield National Park.</a:t>
            </a:r>
            <a:endParaRPr>
              <a:solidFill>
                <a:srgbClr val="F3F3F3"/>
              </a:solidFill>
              <a:latin typeface="Lexend Medium"/>
              <a:ea typeface="Lexend Medium"/>
              <a:cs typeface="Lexend Medium"/>
              <a:sym typeface="Lexend Medium"/>
            </a:endParaRPr>
          </a:p>
          <a:p>
            <a:pPr indent="-317500" lvl="1" marL="914400" rtl="0" algn="l">
              <a:lnSpc>
                <a:spcPct val="95000"/>
              </a:lnSpc>
              <a:spcBef>
                <a:spcPts val="0"/>
              </a:spcBef>
              <a:spcAft>
                <a:spcPts val="0"/>
              </a:spcAft>
              <a:buClr>
                <a:srgbClr val="F3F3F3"/>
              </a:buClr>
              <a:buSzPts val="1400"/>
              <a:buFont typeface="Lexend Medium"/>
              <a:buChar char="○"/>
            </a:pPr>
            <a:r>
              <a:rPr lang="en">
                <a:solidFill>
                  <a:srgbClr val="F3F3F3"/>
                </a:solidFill>
                <a:latin typeface="Lexend Medium"/>
                <a:ea typeface="Lexend Medium"/>
                <a:cs typeface="Lexend Medium"/>
                <a:sym typeface="Lexend Medium"/>
              </a:rPr>
              <a:t>Nitmiluk National Park.</a:t>
            </a:r>
            <a:endParaRPr>
              <a:solidFill>
                <a:srgbClr val="F3F3F3"/>
              </a:solidFill>
              <a:latin typeface="Lexend Medium"/>
              <a:ea typeface="Lexend Medium"/>
              <a:cs typeface="Lexend Medium"/>
              <a:sym typeface="Lexend Medium"/>
            </a:endParaRPr>
          </a:p>
          <a:p>
            <a:pPr indent="-317500" lvl="1" marL="914400" rtl="0" algn="l">
              <a:lnSpc>
                <a:spcPct val="95000"/>
              </a:lnSpc>
              <a:spcBef>
                <a:spcPts val="0"/>
              </a:spcBef>
              <a:spcAft>
                <a:spcPts val="0"/>
              </a:spcAft>
              <a:buClr>
                <a:srgbClr val="F3F3F3"/>
              </a:buClr>
              <a:buSzPts val="1400"/>
              <a:buFont typeface="Lexend Medium"/>
              <a:buChar char="○"/>
            </a:pPr>
            <a:r>
              <a:rPr lang="en">
                <a:solidFill>
                  <a:srgbClr val="F3F3F3"/>
                </a:solidFill>
                <a:latin typeface="Lexend Medium"/>
                <a:ea typeface="Lexend Medium"/>
                <a:cs typeface="Lexend Medium"/>
                <a:sym typeface="Lexend Medium"/>
              </a:rPr>
              <a:t>Uluru Kata Tjuta.</a:t>
            </a:r>
            <a:endParaRPr>
              <a:solidFill>
                <a:srgbClr val="F3F3F3"/>
              </a:solidFill>
              <a:latin typeface="Lexend Medium"/>
              <a:ea typeface="Lexend Medium"/>
              <a:cs typeface="Lexend Medium"/>
              <a:sym typeface="Lexend Medium"/>
            </a:endParaRPr>
          </a:p>
          <a:p>
            <a:pPr indent="-317500" lvl="1" marL="914400" rtl="0" algn="l">
              <a:lnSpc>
                <a:spcPct val="95000"/>
              </a:lnSpc>
              <a:spcBef>
                <a:spcPts val="0"/>
              </a:spcBef>
              <a:spcAft>
                <a:spcPts val="0"/>
              </a:spcAft>
              <a:buClr>
                <a:srgbClr val="F3F3F3"/>
              </a:buClr>
              <a:buSzPts val="1400"/>
              <a:buFont typeface="Lexend Medium"/>
              <a:buChar char="○"/>
            </a:pPr>
            <a:r>
              <a:rPr lang="en">
                <a:solidFill>
                  <a:srgbClr val="F3F3F3"/>
                </a:solidFill>
                <a:latin typeface="Lexend Medium"/>
                <a:ea typeface="Lexend Medium"/>
                <a:cs typeface="Lexend Medium"/>
                <a:sym typeface="Lexend Medium"/>
              </a:rPr>
              <a:t>Watarrka National Park.</a:t>
            </a:r>
            <a:endParaRPr>
              <a:solidFill>
                <a:srgbClr val="F3F3F3"/>
              </a:solidFill>
              <a:latin typeface="Lexend Medium"/>
              <a:ea typeface="Lexend Medium"/>
              <a:cs typeface="Lexend Medium"/>
              <a:sym typeface="Lexend Medium"/>
            </a:endParaRPr>
          </a:p>
          <a:p>
            <a:pPr indent="-317500" lvl="1" marL="914400" rtl="0" algn="l">
              <a:lnSpc>
                <a:spcPct val="95000"/>
              </a:lnSpc>
              <a:spcBef>
                <a:spcPts val="0"/>
              </a:spcBef>
              <a:spcAft>
                <a:spcPts val="0"/>
              </a:spcAft>
              <a:buClr>
                <a:srgbClr val="F3F3F3"/>
              </a:buClr>
              <a:buSzPts val="1400"/>
              <a:buFont typeface="Lexend Medium"/>
              <a:buChar char="○"/>
            </a:pPr>
            <a:r>
              <a:rPr lang="en">
                <a:solidFill>
                  <a:srgbClr val="F3F3F3"/>
                </a:solidFill>
                <a:latin typeface="Lexend Medium"/>
                <a:ea typeface="Lexend Medium"/>
                <a:cs typeface="Lexend Medium"/>
                <a:sym typeface="Lexend Medium"/>
              </a:rPr>
              <a:t>Charles Darwin University National Park.</a:t>
            </a:r>
            <a:br>
              <a:rPr lang="en">
                <a:solidFill>
                  <a:srgbClr val="000000"/>
                </a:solidFill>
                <a:latin typeface="Lexend Medium"/>
                <a:ea typeface="Lexend Medium"/>
                <a:cs typeface="Lexend Medium"/>
                <a:sym typeface="Lexend Medium"/>
              </a:rPr>
            </a:br>
            <a:endParaRPr>
              <a:solidFill>
                <a:srgbClr val="000000"/>
              </a:solidFill>
              <a:latin typeface="Lexend Medium"/>
              <a:ea typeface="Lexend Medium"/>
              <a:cs typeface="Lexend Medium"/>
              <a:sym typeface="Lexend Medium"/>
            </a:endParaRPr>
          </a:p>
          <a:p>
            <a:pPr indent="-317500" lvl="0" marL="457200" rtl="0" algn="l">
              <a:lnSpc>
                <a:spcPct val="95000"/>
              </a:lnSpc>
              <a:spcBef>
                <a:spcPts val="0"/>
              </a:spcBef>
              <a:spcAft>
                <a:spcPts val="0"/>
              </a:spcAft>
              <a:buClr>
                <a:srgbClr val="F3F3F3"/>
              </a:buClr>
              <a:buSzPts val="1400"/>
              <a:buFont typeface="Lexend Medium"/>
              <a:buChar char="●"/>
            </a:pPr>
            <a:r>
              <a:rPr lang="en" sz="1400">
                <a:solidFill>
                  <a:srgbClr val="294C7A"/>
                </a:solidFill>
                <a:latin typeface="Lexend Medium"/>
                <a:ea typeface="Lexend Medium"/>
                <a:cs typeface="Lexend Medium"/>
                <a:sym typeface="Lexend Medium"/>
              </a:rPr>
              <a:t>Tourists enjoyed the national parks</a:t>
            </a:r>
            <a:r>
              <a:rPr lang="en" sz="1400">
                <a:solidFill>
                  <a:srgbClr val="000000"/>
                </a:solidFill>
                <a:latin typeface="Lexend Medium"/>
                <a:ea typeface="Lexend Medium"/>
                <a:cs typeface="Lexend Medium"/>
                <a:sym typeface="Lexend Medium"/>
              </a:rPr>
              <a:t> </a:t>
            </a:r>
            <a:r>
              <a:rPr lang="en" sz="1400">
                <a:solidFill>
                  <a:srgbClr val="F3F3F3"/>
                </a:solidFill>
                <a:latin typeface="Lexend Medium"/>
                <a:ea typeface="Lexend Medium"/>
                <a:cs typeface="Lexend Medium"/>
                <a:sym typeface="Lexend Medium"/>
              </a:rPr>
              <a:t>especially those that had walking trails,</a:t>
            </a:r>
            <a:r>
              <a:rPr lang="en" sz="1400">
                <a:solidFill>
                  <a:srgbClr val="000000"/>
                </a:solidFill>
                <a:latin typeface="Lexend Medium"/>
                <a:ea typeface="Lexend Medium"/>
                <a:cs typeface="Lexend Medium"/>
                <a:sym typeface="Lexend Medium"/>
              </a:rPr>
              <a:t> </a:t>
            </a:r>
            <a:r>
              <a:rPr lang="en" sz="1400">
                <a:solidFill>
                  <a:srgbClr val="294C7A"/>
                </a:solidFill>
                <a:latin typeface="Lexend Medium"/>
                <a:ea typeface="Lexend Medium"/>
                <a:cs typeface="Lexend Medium"/>
                <a:sym typeface="Lexend Medium"/>
              </a:rPr>
              <a:t>enabling them to safely wander</a:t>
            </a:r>
            <a:r>
              <a:rPr lang="en" sz="1400">
                <a:solidFill>
                  <a:srgbClr val="000000"/>
                </a:solidFill>
                <a:latin typeface="Lexend Medium"/>
                <a:ea typeface="Lexend Medium"/>
                <a:cs typeface="Lexend Medium"/>
                <a:sym typeface="Lexend Medium"/>
              </a:rPr>
              <a:t> </a:t>
            </a:r>
            <a:r>
              <a:rPr lang="en" sz="1400">
                <a:solidFill>
                  <a:srgbClr val="F3F3F3"/>
                </a:solidFill>
                <a:latin typeface="Lexend Medium"/>
                <a:ea typeface="Lexend Medium"/>
                <a:cs typeface="Lexend Medium"/>
                <a:sym typeface="Lexend Medium"/>
              </a:rPr>
              <a:t>in the parks and observe the beautiful nature,</a:t>
            </a:r>
            <a:r>
              <a:rPr lang="en" sz="1400">
                <a:solidFill>
                  <a:srgbClr val="000000"/>
                </a:solidFill>
                <a:latin typeface="Lexend Medium"/>
                <a:ea typeface="Lexend Medium"/>
                <a:cs typeface="Lexend Medium"/>
                <a:sym typeface="Lexend Medium"/>
              </a:rPr>
              <a:t> </a:t>
            </a:r>
            <a:r>
              <a:rPr lang="en" sz="1400">
                <a:solidFill>
                  <a:srgbClr val="294C7A"/>
                </a:solidFill>
                <a:latin typeface="Lexend Medium"/>
                <a:ea typeface="Lexend Medium"/>
                <a:cs typeface="Lexend Medium"/>
                <a:sym typeface="Lexend Medium"/>
              </a:rPr>
              <a:t>and especially those that have facilities like restaurants, toilets and are also close to the city</a:t>
            </a:r>
            <a:r>
              <a:rPr lang="en" sz="1400">
                <a:solidFill>
                  <a:srgbClr val="000000"/>
                </a:solidFill>
                <a:latin typeface="Lexend Medium"/>
                <a:ea typeface="Lexend Medium"/>
                <a:cs typeface="Lexend Medium"/>
                <a:sym typeface="Lexend Medium"/>
              </a:rPr>
              <a:t> </a:t>
            </a:r>
            <a:r>
              <a:rPr lang="en" sz="1400">
                <a:solidFill>
                  <a:srgbClr val="F3F3F3"/>
                </a:solidFill>
                <a:latin typeface="Lexend Medium"/>
                <a:ea typeface="Lexend Medium"/>
                <a:cs typeface="Lexend Medium"/>
                <a:sym typeface="Lexend Medium"/>
              </a:rPr>
              <a:t>(Charles Darwin University and Nitmiluk National Parks).</a:t>
            </a:r>
            <a:br>
              <a:rPr lang="en" sz="1400">
                <a:solidFill>
                  <a:srgbClr val="F3F3F3"/>
                </a:solidFill>
                <a:latin typeface="Lexend Medium"/>
                <a:ea typeface="Lexend Medium"/>
                <a:cs typeface="Lexend Medium"/>
                <a:sym typeface="Lexend Medium"/>
              </a:rPr>
            </a:br>
            <a:endParaRPr sz="1400">
              <a:solidFill>
                <a:srgbClr val="F3F3F3"/>
              </a:solidFill>
              <a:latin typeface="Lexend Medium"/>
              <a:ea typeface="Lexend Medium"/>
              <a:cs typeface="Lexend Medium"/>
              <a:sym typeface="Lexend Medium"/>
            </a:endParaRPr>
          </a:p>
        </p:txBody>
      </p:sp>
      <p:sp>
        <p:nvSpPr>
          <p:cNvPr id="190" name="Google Shape;190;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E06666"/>
                </a:solidFill>
                <a:latin typeface="Lexend Black"/>
                <a:ea typeface="Lexend Black"/>
                <a:cs typeface="Lexend Black"/>
                <a:sym typeface="Lexend Black"/>
              </a:rPr>
              <a:t>National Parks</a:t>
            </a:r>
            <a:endParaRPr>
              <a:solidFill>
                <a:srgbClr val="E06666"/>
              </a:solidFill>
              <a:latin typeface="Lexend Black"/>
              <a:ea typeface="Lexend Black"/>
              <a:cs typeface="Lexend Black"/>
              <a:sym typeface="Lexend Black"/>
            </a:endParaRPr>
          </a:p>
        </p:txBody>
      </p:sp>
      <p:pic>
        <p:nvPicPr>
          <p:cNvPr id="191" name="Google Shape;191;p26"/>
          <p:cNvPicPr preferRelativeResize="0"/>
          <p:nvPr/>
        </p:nvPicPr>
        <p:blipFill>
          <a:blip r:embed="rId3">
            <a:alphaModFix/>
          </a:blip>
          <a:stretch>
            <a:fillRect/>
          </a:stretch>
        </p:blipFill>
        <p:spPr>
          <a:xfrm>
            <a:off x="5612950" y="516450"/>
            <a:ext cx="2626200" cy="2055300"/>
          </a:xfrm>
          <a:prstGeom prst="roundRect">
            <a:avLst>
              <a:gd fmla="val 16667" name="adj"/>
            </a:avLst>
          </a:prstGeom>
          <a:noFill/>
          <a:ln>
            <a:noFill/>
          </a:ln>
        </p:spPr>
      </p:pic>
      <p:pic>
        <p:nvPicPr>
          <p:cNvPr id="192" name="Google Shape;192;p26"/>
          <p:cNvPicPr preferRelativeResize="0"/>
          <p:nvPr/>
        </p:nvPicPr>
        <p:blipFill>
          <a:blip r:embed="rId4">
            <a:alphaModFix/>
          </a:blip>
          <a:stretch>
            <a:fillRect/>
          </a:stretch>
        </p:blipFill>
        <p:spPr>
          <a:xfrm>
            <a:off x="5612950" y="2789475"/>
            <a:ext cx="2626200" cy="1971300"/>
          </a:xfrm>
          <a:prstGeom prst="roundRect">
            <a:avLst>
              <a:gd fmla="val 16667" name="adj"/>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pic>
        <p:nvPicPr>
          <p:cNvPr id="197" name="Google Shape;197;p27" title="haroon.JPG"/>
          <p:cNvPicPr preferRelativeResize="0"/>
          <p:nvPr/>
        </p:nvPicPr>
        <p:blipFill>
          <a:blip r:embed="rId3">
            <a:alphaModFix/>
          </a:blip>
          <a:stretch>
            <a:fillRect/>
          </a:stretch>
        </p:blipFill>
        <p:spPr>
          <a:xfrm>
            <a:off x="341100" y="1315750"/>
            <a:ext cx="8461800" cy="3416400"/>
          </a:xfrm>
          <a:prstGeom prst="roundRect">
            <a:avLst>
              <a:gd fmla="val 16667" name="adj"/>
            </a:avLst>
          </a:prstGeom>
          <a:noFill/>
          <a:ln>
            <a:noFill/>
          </a:ln>
          <a:effectLst>
            <a:outerShdw blurRad="57150" rotWithShape="0" algn="bl" dir="5400000" dist="19050">
              <a:srgbClr val="000000">
                <a:alpha val="50000"/>
              </a:srgbClr>
            </a:outerShdw>
          </a:effectLst>
        </p:spPr>
      </p:pic>
      <p:sp>
        <p:nvSpPr>
          <p:cNvPr id="198" name="Google Shape;198;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solidFill>
                  <a:srgbClr val="E06666"/>
                </a:solidFill>
                <a:latin typeface="Lexend Black"/>
                <a:ea typeface="Lexend Black"/>
                <a:cs typeface="Lexend Black"/>
                <a:sym typeface="Lexend Black"/>
              </a:rPr>
              <a:t>Word cloud for National Parks</a:t>
            </a:r>
            <a:endParaRPr>
              <a:solidFill>
                <a:srgbClr val="E06666"/>
              </a:solidFill>
              <a:latin typeface="Lexend Black"/>
              <a:ea typeface="Lexend Black"/>
              <a:cs typeface="Lexend Black"/>
              <a:sym typeface="Lexend Black"/>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pic>
        <p:nvPicPr>
          <p:cNvPr id="203" name="Google Shape;203;p28" title="parks negative cloud.JPG"/>
          <p:cNvPicPr preferRelativeResize="0"/>
          <p:nvPr/>
        </p:nvPicPr>
        <p:blipFill>
          <a:blip r:embed="rId3">
            <a:alphaModFix/>
          </a:blip>
          <a:stretch>
            <a:fillRect/>
          </a:stretch>
        </p:blipFill>
        <p:spPr>
          <a:xfrm>
            <a:off x="585100" y="1108975"/>
            <a:ext cx="8034900" cy="3680700"/>
          </a:xfrm>
          <a:prstGeom prst="roundRect">
            <a:avLst>
              <a:gd fmla="val 16667" name="adj"/>
            </a:avLst>
          </a:prstGeom>
          <a:noFill/>
          <a:ln>
            <a:noFill/>
          </a:ln>
        </p:spPr>
      </p:pic>
      <p:sp>
        <p:nvSpPr>
          <p:cNvPr id="204" name="Google Shape;204;p2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2220">
                <a:solidFill>
                  <a:srgbClr val="E06666"/>
                </a:solidFill>
                <a:latin typeface="Lexend Black"/>
                <a:ea typeface="Lexend Black"/>
                <a:cs typeface="Lexend Black"/>
                <a:sym typeface="Lexend Black"/>
              </a:rPr>
              <a:t>Word cloud of negative reviews about National Parks</a:t>
            </a:r>
            <a:endParaRPr sz="2220">
              <a:solidFill>
                <a:srgbClr val="E06666"/>
              </a:solidFill>
              <a:latin typeface="Lexend Black"/>
              <a:ea typeface="Lexend Black"/>
              <a:cs typeface="Lexend Black"/>
              <a:sym typeface="Lexend Black"/>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9"/>
          <p:cNvSpPr txBox="1"/>
          <p:nvPr>
            <p:ph idx="1" type="subTitle"/>
          </p:nvPr>
        </p:nvSpPr>
        <p:spPr>
          <a:xfrm>
            <a:off x="311700" y="354357"/>
            <a:ext cx="8520600" cy="1237800"/>
          </a:xfrm>
          <a:prstGeom prst="rect">
            <a:avLst/>
          </a:prstGeom>
        </p:spPr>
        <p:txBody>
          <a:bodyPr anchorCtr="0" anchor="t" bIns="91425" lIns="91425" spcFirstLastPara="1" rIns="91425" wrap="square" tIns="91425">
            <a:noAutofit/>
          </a:bodyPr>
          <a:lstStyle/>
          <a:p>
            <a:pPr indent="0" lvl="0" marL="0" rtl="0" algn="ctr">
              <a:lnSpc>
                <a:spcPct val="80000"/>
              </a:lnSpc>
              <a:spcBef>
                <a:spcPts val="0"/>
              </a:spcBef>
              <a:spcAft>
                <a:spcPts val="0"/>
              </a:spcAft>
              <a:buSzPts val="605"/>
              <a:buNone/>
            </a:pPr>
            <a:r>
              <a:rPr lang="en" sz="3940">
                <a:solidFill>
                  <a:srgbClr val="E06666"/>
                </a:solidFill>
                <a:latin typeface="Lexend Black"/>
                <a:ea typeface="Lexend Black"/>
                <a:cs typeface="Lexend Black"/>
                <a:sym typeface="Lexend Black"/>
              </a:rPr>
              <a:t>If you have any questions,</a:t>
            </a:r>
            <a:endParaRPr sz="3940">
              <a:solidFill>
                <a:srgbClr val="E06666"/>
              </a:solidFill>
              <a:latin typeface="Lexend Black"/>
              <a:ea typeface="Lexend Black"/>
              <a:cs typeface="Lexend Black"/>
              <a:sym typeface="Lexend Black"/>
            </a:endParaRPr>
          </a:p>
          <a:p>
            <a:pPr indent="0" lvl="0" marL="0" rtl="0" algn="ctr">
              <a:lnSpc>
                <a:spcPct val="80000"/>
              </a:lnSpc>
              <a:spcBef>
                <a:spcPts val="0"/>
              </a:spcBef>
              <a:spcAft>
                <a:spcPts val="0"/>
              </a:spcAft>
              <a:buSzPts val="605"/>
              <a:buNone/>
            </a:pPr>
            <a:r>
              <a:rPr lang="en" sz="3940">
                <a:solidFill>
                  <a:srgbClr val="E06666"/>
                </a:solidFill>
                <a:latin typeface="Lexend Black"/>
                <a:ea typeface="Lexend Black"/>
                <a:cs typeface="Lexend Black"/>
                <a:sym typeface="Lexend Black"/>
              </a:rPr>
              <a:t>You may ask them now</a:t>
            </a:r>
            <a:endParaRPr sz="3940">
              <a:solidFill>
                <a:srgbClr val="E06666"/>
              </a:solidFill>
              <a:latin typeface="Lexend Black"/>
              <a:ea typeface="Lexend Black"/>
              <a:cs typeface="Lexend Black"/>
              <a:sym typeface="Lexend Black"/>
            </a:endParaRPr>
          </a:p>
        </p:txBody>
      </p:sp>
      <p:pic>
        <p:nvPicPr>
          <p:cNvPr id="210" name="Google Shape;210;p29" title="favpng_d795e3f2069c4e5da9a7ed39ed8babb1.png"/>
          <p:cNvPicPr preferRelativeResize="0"/>
          <p:nvPr/>
        </p:nvPicPr>
        <p:blipFill>
          <a:blip r:embed="rId3">
            <a:alphaModFix/>
          </a:blip>
          <a:stretch>
            <a:fillRect/>
          </a:stretch>
        </p:blipFill>
        <p:spPr>
          <a:xfrm>
            <a:off x="1366413" y="1592026"/>
            <a:ext cx="6411175" cy="37431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